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embeddedFontLst>
    <p:embeddedFont>
      <p:font typeface="Lora"/>
      <p:regular r:id="rId201314"/>
    </p:embeddedFont>
    <p:embeddedFont>
      <p:font typeface="Lora Medium"/>
      <p:regular r:id="rId201315"/>
    </p:embeddedFont>
    <p:embeddedFont>
      <p:font typeface="Lora SemiBold"/>
      <p:regular r:id="rId201316"/>
    </p:embeddedFont>
    <p:embeddedFont>
      <p:font typeface="Lora Bold"/>
      <p:regular r:id="rId201317"/>
    </p:embeddedFont>
    <p:embeddedFont>
      <p:font typeface="Source Sans 3 ExtraLight"/>
      <p:regular r:id="rId201318"/>
    </p:embeddedFont>
    <p:embeddedFont>
      <p:font typeface="Source Sans 3 Light"/>
      <p:regular r:id="rId201319"/>
    </p:embeddedFont>
    <p:embeddedFont>
      <p:font typeface="Source Sans 3"/>
      <p:regular r:id="rId201320"/>
    </p:embeddedFont>
    <p:embeddedFont>
      <p:font typeface="Source Sans 3 Medium"/>
      <p:regular r:id="rId201321"/>
    </p:embeddedFont>
    <p:embeddedFont>
      <p:font typeface="Source Sans 3 SemiBold"/>
      <p:regular r:id="rId201322"/>
    </p:embeddedFont>
    <p:embeddedFont>
      <p:font typeface="Source Sans 3 Bold"/>
      <p:regular r:id="rId201323"/>
    </p:embeddedFont>
    <p:embeddedFont>
      <p:font typeface="Source Sans 3 ExtraBold"/>
      <p:regular r:id="rId201324"/>
    </p:embeddedFont>
    <p:embeddedFont>
      <p:font typeface="Source Sans 3 Black"/>
      <p:regular r:id="rId2013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 Id="rId201328" Target="fonts/201328.fntdata" Type="http://schemas.openxmlformats.org/officeDocument/2006/relationships/font"/><Relationship Id="rId201329" Target="fonts/20132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jpeg"/><Relationship Id="rId2" Type="http://schemas.openxmlformats.org/officeDocument/2006/relationships/image" Target="../media/image-1002-1.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jpeg"/><Relationship Id="rId2" Type="http://schemas.openxmlformats.org/officeDocument/2006/relationships/image" Target="../media/image-1002-1.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jpeg"/><Relationship Id="rId2" Type="http://schemas.openxmlformats.org/officeDocument/2006/relationships/image" Target="../media/image-1002-1.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1A24"/>
          </a:solidFill>
          <a:ln/>
        </p:spPr>
      </p:sp>
      <p:sp>
        <p:nvSpPr>
          <p:cNvPr id="3" name="Shape 1"/>
          <p:cNvSpPr/>
          <p:nvPr/>
        </p:nvSpPr>
        <p:spPr>
          <a:xfrm>
            <a:off x="0" y="0"/>
            <a:ext cx="9144000" cy="5143500"/>
          </a:xfrm>
          <a:prstGeom prst="rect">
            <a:avLst/>
          </a:prstGeom>
          <a:solidFill>
            <a:srgbClr val="252833"/>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1A24"/>
          </a:solidFill>
          <a:ln/>
        </p:spPr>
      </p:sp>
      <p:sp>
        <p:nvSpPr>
          <p:cNvPr id="3" name="Shape 1"/>
          <p:cNvSpPr/>
          <p:nvPr/>
        </p:nvSpPr>
        <p:spPr>
          <a:xfrm>
            <a:off x="0" y="0"/>
            <a:ext cx="9144000" cy="5143500"/>
          </a:xfrm>
          <a:prstGeom prst="rect">
            <a:avLst/>
          </a:prstGeom>
          <a:solidFill>
            <a:srgbClr val="252833"/>
          </a:solidFill>
          <a:ln/>
        </p:spPr>
      </p:sp>
      <p:sp>
        <p:nvSpPr>
          <p:cNvPr id="4" name="Shape 2"/>
          <p:cNvSpPr/>
          <p:nvPr/>
        </p:nvSpPr>
        <p:spPr>
          <a:xfrm>
            <a:off x="0" y="0"/>
            <a:ext cx="9144000" cy="5143500"/>
          </a:xfrm>
          <a:prstGeom prst="rect">
            <a:avLst/>
          </a:prstGeom>
          <a:solidFill>
            <a:srgbClr val="000000"/>
          </a:solidFill>
          <a:ln/>
        </p:spPr>
      </p:sp>
      <p:pic>
        <p:nvPicPr>
          <p:cNvPr id="5"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6"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1A24"/>
          </a:solidFill>
          <a:ln/>
        </p:spPr>
      </p:sp>
      <p:sp>
        <p:nvSpPr>
          <p:cNvPr id="3" name="Shape 1"/>
          <p:cNvSpPr/>
          <p:nvPr/>
        </p:nvSpPr>
        <p:spPr>
          <a:xfrm>
            <a:off x="0" y="0"/>
            <a:ext cx="9144000" cy="5143500"/>
          </a:xfrm>
          <a:prstGeom prst="rect">
            <a:avLst/>
          </a:prstGeom>
          <a:solidFill>
            <a:srgbClr val="252833"/>
          </a:solidFill>
          <a:ln/>
        </p:spPr>
      </p:sp>
      <p:sp>
        <p:nvSpPr>
          <p:cNvPr id="4" name="Shape 2"/>
          <p:cNvSpPr/>
          <p:nvPr/>
        </p:nvSpPr>
        <p:spPr>
          <a:xfrm>
            <a:off x="0" y="0"/>
            <a:ext cx="9144000" cy="5143500"/>
          </a:xfrm>
          <a:prstGeom prst="rect">
            <a:avLst/>
          </a:prstGeom>
          <a:solidFill>
            <a:srgbClr val="000000"/>
          </a:solidFill>
          <a:ln/>
        </p:spPr>
      </p:sp>
      <p:pic>
        <p:nvPicPr>
          <p:cNvPr id="5"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6"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1A24"/>
          </a:solidFill>
          <a:ln/>
        </p:spPr>
      </p:sp>
      <p:sp>
        <p:nvSpPr>
          <p:cNvPr id="3" name="Shape 1"/>
          <p:cNvSpPr/>
          <p:nvPr/>
        </p:nvSpPr>
        <p:spPr>
          <a:xfrm>
            <a:off x="0" y="0"/>
            <a:ext cx="9144000" cy="5143500"/>
          </a:xfrm>
          <a:prstGeom prst="rect">
            <a:avLst/>
          </a:prstGeom>
          <a:solidFill>
            <a:srgbClr val="252833"/>
          </a:solidFill>
          <a:ln/>
        </p:spPr>
      </p:sp>
      <p:sp>
        <p:nvSpPr>
          <p:cNvPr id="4" name="Shape 2"/>
          <p:cNvSpPr/>
          <p:nvPr/>
        </p:nvSpPr>
        <p:spPr>
          <a:xfrm>
            <a:off x="0" y="0"/>
            <a:ext cx="9144000" cy="5143500"/>
          </a:xfrm>
          <a:prstGeom prst="rect">
            <a:avLst/>
          </a:prstGeom>
          <a:solidFill>
            <a:srgbClr val="000000"/>
          </a:solidFill>
          <a:ln/>
        </p:spPr>
      </p:sp>
      <p:pic>
        <p:nvPicPr>
          <p:cNvPr id="5"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6"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J.C.D.A.V.College" TargetMode="External"/><Relationship Id="rId1" Type="http://schemas.openxmlformats.org/officeDocument/2006/relationships/image" Target="../media/image-1-1.jpe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523577" y="1049015"/>
            <a:ext cx="4667845" cy="880021"/>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F98AC7"/>
                </a:solidFill>
                <a:latin typeface="Lora" pitchFamily="34" charset="0"/>
                <a:ea typeface="Lora" pitchFamily="34" charset="-122"/>
                <a:cs typeface="Lora" pitchFamily="34" charset="-120"/>
              </a:rPr>
              <a:t>Indian Weather Rainfall Prediction</a:t>
            </a:r>
            <a:endParaRPr lang="en-US" sz="2750" dirty="0"/>
          </a:p>
        </p:txBody>
      </p:sp>
      <p:sp>
        <p:nvSpPr>
          <p:cNvPr id="4" name="Text 1"/>
          <p:cNvSpPr/>
          <p:nvPr/>
        </p:nvSpPr>
        <p:spPr>
          <a:xfrm>
            <a:off x="523577" y="2153394"/>
            <a:ext cx="4667845" cy="1941091"/>
          </a:xfrm>
          <a:prstGeom prst="rect">
            <a:avLst/>
          </a:prstGeom>
          <a:noFill/>
          <a:ln/>
        </p:spPr>
        <p:txBody>
          <a:bodyPr wrap="square" lIns="0" tIns="0" rIns="0" bIns="0" rtlCol="0" anchor="t">
            <a:normAutofit/>
          </a:bodyPr>
          <a:lstStyle/>
          <a:p>
            <a:pPr algn="l" indent="0" marL="0">
              <a:lnSpc>
                <a:spcPct val="133000"/>
              </a:lnSpc>
              <a:spcAft>
                <a:spcPts val="1300"/>
              </a:spcAft>
              <a:buNone/>
            </a:pPr>
            <a:r>
              <a:rPr lang="en-US" sz="1150" dirty="0">
                <a:solidFill>
                  <a:srgbClr val="D6E5EF"/>
                </a:solidFill>
                <a:latin typeface="Source Sans 3" pitchFamily="34" charset="0"/>
                <a:ea typeface="Source Sans 3" pitchFamily="34" charset="-122"/>
                <a:cs typeface="Source Sans 3" pitchFamily="34" charset="-120"/>
              </a:rPr>
              <a:t>A Python and Data Science project that analyzes Indian weather data to identify rainfall patterns and support weather prediction using historical data.</a:t>
            </a:r>
            <a:endParaRPr lang="en-US" sz="1150" dirty="0"/>
          </a:p>
          <a:p>
            <a:pPr algn="l" indent="0" marL="0">
              <a:lnSpc>
                <a:spcPct val="133000"/>
              </a:lnSpc>
              <a:spcAft>
                <a:spcPts val="1300"/>
              </a:spcAft>
              <a:buNone/>
            </a:pPr>
            <a:r>
              <a:rPr lang="en-US" sz="1150" dirty="0">
                <a:solidFill>
                  <a:srgbClr val="D8AFF8"/>
                </a:solidFill>
                <a:latin typeface="Source Sans 3" pitchFamily="34" charset="0"/>
                <a:ea typeface="Source Sans 3" pitchFamily="34" charset="-122"/>
                <a:cs typeface="Source Sans 3" pitchFamily="34" charset="-120"/>
              </a:rPr>
              <a:t>Aditi | sanjna</a:t>
            </a:r>
            <a:endParaRPr lang="en-US" sz="1150" dirty="0"/>
          </a:p>
          <a:p>
            <a:pPr algn="l" indent="0" marL="0">
              <a:lnSpc>
                <a:spcPct val="133000"/>
              </a:lnSpc>
              <a:buNone/>
            </a:pPr>
            <a:r>
              <a:rPr lang="en-US" sz="1150" b="1" u="sng" dirty="0">
                <a:solidFill>
                  <a:srgbClr val="D8AFF8"/>
                </a:solidFill>
                <a:latin typeface="Source Sans 3 Bold" pitchFamily="34" charset="0"/>
                <a:ea typeface="Source Sans 3 Bold" pitchFamily="34" charset="-122"/>
                <a:cs typeface="Source Sans 3 Bold" pitchFamily="34" charset="-120"/>
                <a:hlinkClick r:id="rId2" invalidUrl="" action="" tgtFrame="" tooltip="" history="1" highlightClick="0" endSnd="0">
                  <a:extLst>
                    <a:ext uri="{A12FA001-AC4F-418D-AE19-62706E023703}">
                      <ahyp:hlinkClr xmlns:ahyp="http://schemas.microsoft.com/office/drawing/2018/hyperlinkcolor" val="tx"/>
                    </a:ext>
                  </a:extLst>
                </a:hlinkClick>
              </a:rPr>
              <a:t>J.C.D.A.V.College</a:t>
            </a:r>
            <a:pPr algn="l" indent="0" marL="0">
              <a:lnSpc>
                <a:spcPct val="133000"/>
              </a:lnSpc>
              <a:spcAft>
                <a:spcPts val="1300"/>
              </a:spcAft>
              <a:buNone/>
            </a:pPr>
            <a:r>
              <a:rPr lang="en-US" sz="1150" dirty="0">
                <a:solidFill>
                  <a:srgbClr val="D6E5EF"/>
                </a:solidFill>
                <a:latin typeface="Source Sans 3" pitchFamily="34" charset="0"/>
                <a:ea typeface="Source Sans 3" pitchFamily="34" charset="-122"/>
                <a:cs typeface="Source Sans 3" pitchFamily="34" charset="-120"/>
              </a:rPr>
              <a:t> Dasuya</a:t>
            </a:r>
            <a:endParaRPr lang="en-US" sz="1150" dirty="0"/>
          </a:p>
          <a:p>
            <a:pPr algn="l" indent="0" marL="0">
              <a:lnSpc>
                <a:spcPct val="133000"/>
              </a:lnSpc>
              <a:buNone/>
            </a:pPr>
            <a:r>
              <a:rPr lang="en-US" sz="1150" dirty="0">
                <a:solidFill>
                  <a:srgbClr val="D8AFF8"/>
                </a:solidFill>
                <a:latin typeface="Source Sans 3" pitchFamily="34" charset="0"/>
                <a:ea typeface="Source Sans 3" pitchFamily="34" charset="-122"/>
                <a:cs typeface="Source Sans 3" pitchFamily="34" charset="-120"/>
              </a:rPr>
              <a:t>BCA</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52577" y="440010"/>
            <a:ext cx="4667845" cy="405631"/>
          </a:xfrm>
          <a:prstGeom prst="rect">
            <a:avLst/>
          </a:prstGeom>
          <a:noFill/>
          <a:ln/>
        </p:spPr>
        <p:txBody>
          <a:bodyPr wrap="none" lIns="0" tIns="0" rIns="0" bIns="0" rtlCol="0" anchor="t"/>
          <a:lstStyle/>
          <a:p>
            <a:pPr algn="l" indent="0" marL="0">
              <a:lnSpc>
                <a:spcPct val="104000"/>
              </a:lnSpc>
              <a:buNone/>
            </a:pPr>
            <a:r>
              <a:rPr lang="en-US" sz="2550" dirty="0">
                <a:solidFill>
                  <a:srgbClr val="F98AC7"/>
                </a:solidFill>
                <a:latin typeface="Lora" pitchFamily="34" charset="0"/>
                <a:ea typeface="Lora" pitchFamily="34" charset="-122"/>
                <a:cs typeface="Lora" pitchFamily="34" charset="-120"/>
              </a:rPr>
              <a:t>Project Overview</a:t>
            </a:r>
            <a:endParaRPr lang="en-US" sz="2550" dirty="0"/>
          </a:p>
        </p:txBody>
      </p:sp>
      <p:sp>
        <p:nvSpPr>
          <p:cNvPr id="4" name="Shape 1"/>
          <p:cNvSpPr/>
          <p:nvPr/>
        </p:nvSpPr>
        <p:spPr>
          <a:xfrm>
            <a:off x="3952577" y="1036365"/>
            <a:ext cx="4667845" cy="1123504"/>
          </a:xfrm>
          <a:prstGeom prst="roundRect">
            <a:avLst>
              <a:gd name="adj" fmla="val 1841"/>
            </a:avLst>
          </a:prstGeom>
          <a:solidFill>
            <a:srgbClr val="444752"/>
          </a:solidFill>
          <a:ln/>
        </p:spPr>
      </p:sp>
      <p:sp>
        <p:nvSpPr>
          <p:cNvPr id="5" name="Shape 2"/>
          <p:cNvSpPr/>
          <p:nvPr/>
        </p:nvSpPr>
        <p:spPr>
          <a:xfrm>
            <a:off x="4090467" y="1250082"/>
            <a:ext cx="68907" cy="68907"/>
          </a:xfrm>
          <a:prstGeom prst="ellipse">
            <a:avLst/>
          </a:prstGeom>
          <a:solidFill>
            <a:srgbClr val="6EB9FC"/>
          </a:solidFill>
          <a:ln/>
        </p:spPr>
      </p:sp>
      <p:sp>
        <p:nvSpPr>
          <p:cNvPr id="6" name="Text 3"/>
          <p:cNvSpPr/>
          <p:nvPr/>
        </p:nvSpPr>
        <p:spPr>
          <a:xfrm>
            <a:off x="4286473" y="1174254"/>
            <a:ext cx="4196060" cy="847725"/>
          </a:xfrm>
          <a:prstGeom prst="rect">
            <a:avLst/>
          </a:prstGeom>
          <a:noFill/>
          <a:ln/>
        </p:spPr>
        <p:txBody>
          <a:bodyPr wrap="square" lIns="0" tIns="0" rIns="0" bIns="0" rtlCol="0" anchor="t">
            <a:normAutofit/>
          </a:bodyPr>
          <a:lstStyle/>
          <a:p>
            <a:pPr algn="l" indent="0" marL="0">
              <a:lnSpc>
                <a:spcPct val="128000"/>
              </a:lnSpc>
              <a:buNone/>
            </a:pPr>
            <a:r>
              <a:rPr lang="en-US" sz="1050" dirty="0">
                <a:solidFill>
                  <a:srgbClr val="D6E5EF"/>
                </a:solidFill>
                <a:latin typeface="Source Sans 3" pitchFamily="34" charset="0"/>
                <a:ea typeface="Source Sans 3" pitchFamily="34" charset="-122"/>
                <a:cs typeface="Source Sans 3" pitchFamily="34" charset="-120"/>
              </a:rPr>
              <a:t>The </a:t>
            </a:r>
            <a:pPr algn="l" indent="0" marL="0">
              <a:lnSpc>
                <a:spcPct val="128000"/>
              </a:lnSpc>
              <a:buNone/>
            </a:pPr>
            <a:r>
              <a:rPr lang="en-US" sz="1050" b="1" dirty="0">
                <a:solidFill>
                  <a:srgbClr val="D6E5EF"/>
                </a:solidFill>
                <a:latin typeface="Source Sans 3 Bold" pitchFamily="34" charset="0"/>
                <a:ea typeface="Source Sans 3 Bold" pitchFamily="34" charset="-122"/>
                <a:cs typeface="Source Sans 3 Bold" pitchFamily="34" charset="-120"/>
              </a:rPr>
              <a:t>Indian Weather Rainfall Prediction</a:t>
            </a:r>
            <a:pPr algn="l" indent="0" marL="0">
              <a:lnSpc>
                <a:spcPct val="128000"/>
              </a:lnSpc>
              <a:buNone/>
            </a:pPr>
            <a:r>
              <a:rPr lang="en-US" sz="1050" dirty="0">
                <a:solidFill>
                  <a:srgbClr val="D6E5EF"/>
                </a:solidFill>
                <a:latin typeface="Source Sans 3" pitchFamily="34" charset="0"/>
                <a:ea typeface="Source Sans 3" pitchFamily="34" charset="-122"/>
                <a:cs typeface="Source Sans 3" pitchFamily="34" charset="-120"/>
              </a:rPr>
              <a:t> project is a </a:t>
            </a:r>
            <a:pPr algn="l" indent="0" marL="0">
              <a:lnSpc>
                <a:spcPct val="128000"/>
              </a:lnSpc>
              <a:buNone/>
            </a:pPr>
            <a:r>
              <a:rPr lang="en-US" sz="1050" b="1" dirty="0">
                <a:solidFill>
                  <a:srgbClr val="D6E5EF"/>
                </a:solidFill>
                <a:latin typeface="Source Sans 3 Bold" pitchFamily="34" charset="0"/>
                <a:ea typeface="Source Sans 3 Bold" pitchFamily="34" charset="-122"/>
                <a:cs typeface="Source Sans 3 Bold" pitchFamily="34" charset="-120"/>
              </a:rPr>
              <a:t>Python and Data Science</a:t>
            </a:r>
            <a:pPr algn="l" indent="0" marL="0">
              <a:lnSpc>
                <a:spcPct val="128000"/>
              </a:lnSpc>
              <a:buNone/>
            </a:pPr>
            <a:r>
              <a:rPr lang="en-US" sz="1050" dirty="0">
                <a:solidFill>
                  <a:srgbClr val="D6E5EF"/>
                </a:solidFill>
                <a:latin typeface="Source Sans 3" pitchFamily="34" charset="0"/>
                <a:ea typeface="Source Sans 3" pitchFamily="34" charset="-122"/>
                <a:cs typeface="Source Sans 3" pitchFamily="34" charset="-120"/>
              </a:rPr>
              <a:t> project that analyzes historical weather data from different regions of India. The dataset includes information such as temperature, rainfall, wind speed, air pressure, season, and location.</a:t>
            </a:r>
            <a:endParaRPr lang="en-US" sz="1050" dirty="0"/>
          </a:p>
        </p:txBody>
      </p:sp>
      <p:sp>
        <p:nvSpPr>
          <p:cNvPr id="7" name="Shape 4"/>
          <p:cNvSpPr/>
          <p:nvPr/>
        </p:nvSpPr>
        <p:spPr>
          <a:xfrm>
            <a:off x="3952577" y="2414141"/>
            <a:ext cx="4667845" cy="911572"/>
          </a:xfrm>
          <a:prstGeom prst="roundRect">
            <a:avLst>
              <a:gd name="adj" fmla="val 2270"/>
            </a:avLst>
          </a:prstGeom>
          <a:solidFill>
            <a:srgbClr val="444752"/>
          </a:solidFill>
          <a:ln/>
        </p:spPr>
      </p:sp>
      <p:sp>
        <p:nvSpPr>
          <p:cNvPr id="8" name="Shape 5"/>
          <p:cNvSpPr/>
          <p:nvPr/>
        </p:nvSpPr>
        <p:spPr>
          <a:xfrm>
            <a:off x="4090467" y="2627858"/>
            <a:ext cx="68907" cy="68907"/>
          </a:xfrm>
          <a:prstGeom prst="ellipse">
            <a:avLst/>
          </a:prstGeom>
          <a:solidFill>
            <a:srgbClr val="6EB9FC"/>
          </a:solidFill>
          <a:ln/>
        </p:spPr>
      </p:sp>
      <p:sp>
        <p:nvSpPr>
          <p:cNvPr id="9" name="Text 6"/>
          <p:cNvSpPr/>
          <p:nvPr/>
        </p:nvSpPr>
        <p:spPr>
          <a:xfrm>
            <a:off x="4286473" y="2552030"/>
            <a:ext cx="4196060" cy="635794"/>
          </a:xfrm>
          <a:prstGeom prst="rect">
            <a:avLst/>
          </a:prstGeom>
          <a:noFill/>
          <a:ln/>
        </p:spPr>
        <p:txBody>
          <a:bodyPr wrap="square" lIns="0" tIns="0" rIns="0" bIns="0" rtlCol="0" anchor="t">
            <a:normAutofit/>
          </a:bodyPr>
          <a:lstStyle/>
          <a:p>
            <a:pPr algn="l" indent="0" marL="0">
              <a:lnSpc>
                <a:spcPct val="128000"/>
              </a:lnSpc>
              <a:buNone/>
            </a:pPr>
            <a:r>
              <a:rPr lang="en-US" sz="1050" dirty="0">
                <a:solidFill>
                  <a:srgbClr val="D6E5EF"/>
                </a:solidFill>
                <a:latin typeface="Source Sans 3" pitchFamily="34" charset="0"/>
                <a:ea typeface="Source Sans 3" pitchFamily="34" charset="-122"/>
                <a:cs typeface="Source Sans 3" pitchFamily="34" charset="-120"/>
              </a:rPr>
              <a:t>Using Python libraries like </a:t>
            </a:r>
            <a:pPr algn="l" indent="0" marL="0">
              <a:lnSpc>
                <a:spcPct val="128000"/>
              </a:lnSpc>
              <a:buNone/>
            </a:pPr>
            <a:r>
              <a:rPr lang="en-US" sz="1050" b="1" dirty="0">
                <a:solidFill>
                  <a:srgbClr val="D6E5EF"/>
                </a:solidFill>
                <a:latin typeface="Source Sans 3 Bold" pitchFamily="34" charset="0"/>
                <a:ea typeface="Source Sans 3 Bold" pitchFamily="34" charset="-122"/>
                <a:cs typeface="Source Sans 3 Bold" pitchFamily="34" charset="-120"/>
              </a:rPr>
              <a:t>Pandas, NumPy, Matplotlib, and Seaborn</a:t>
            </a:r>
            <a:pPr algn="l" indent="0" marL="0">
              <a:lnSpc>
                <a:spcPct val="128000"/>
              </a:lnSpc>
              <a:buNone/>
            </a:pPr>
            <a:r>
              <a:rPr lang="en-US" sz="1050" dirty="0">
                <a:solidFill>
                  <a:srgbClr val="D6E5EF"/>
                </a:solidFill>
                <a:latin typeface="Source Sans 3" pitchFamily="34" charset="0"/>
                <a:ea typeface="Source Sans 3" pitchFamily="34" charset="-122"/>
                <a:cs typeface="Source Sans 3" pitchFamily="34" charset="-120"/>
              </a:rPr>
              <a:t>, the data is cleaned, explored, and visualized to identify weather patterns and rainfall trends.</a:t>
            </a:r>
            <a:endParaRPr lang="en-US" sz="1050" dirty="0"/>
          </a:p>
        </p:txBody>
      </p:sp>
      <p:sp>
        <p:nvSpPr>
          <p:cNvPr id="10" name="Shape 7"/>
          <p:cNvSpPr/>
          <p:nvPr/>
        </p:nvSpPr>
        <p:spPr>
          <a:xfrm>
            <a:off x="3952577" y="3579986"/>
            <a:ext cx="4667845" cy="1123504"/>
          </a:xfrm>
          <a:prstGeom prst="roundRect">
            <a:avLst>
              <a:gd name="adj" fmla="val 1841"/>
            </a:avLst>
          </a:prstGeom>
          <a:solidFill>
            <a:srgbClr val="444752"/>
          </a:solidFill>
          <a:ln/>
        </p:spPr>
      </p:sp>
      <p:sp>
        <p:nvSpPr>
          <p:cNvPr id="11" name="Shape 8"/>
          <p:cNvSpPr/>
          <p:nvPr/>
        </p:nvSpPr>
        <p:spPr>
          <a:xfrm>
            <a:off x="4090467" y="3793703"/>
            <a:ext cx="68907" cy="68907"/>
          </a:xfrm>
          <a:prstGeom prst="ellipse">
            <a:avLst/>
          </a:prstGeom>
          <a:solidFill>
            <a:srgbClr val="6EB9FC"/>
          </a:solidFill>
          <a:ln/>
        </p:spPr>
      </p:sp>
      <p:sp>
        <p:nvSpPr>
          <p:cNvPr id="12" name="Text 9"/>
          <p:cNvSpPr/>
          <p:nvPr/>
        </p:nvSpPr>
        <p:spPr>
          <a:xfrm>
            <a:off x="4286473" y="3717875"/>
            <a:ext cx="4196060" cy="847725"/>
          </a:xfrm>
          <a:prstGeom prst="rect">
            <a:avLst/>
          </a:prstGeom>
          <a:noFill/>
          <a:ln/>
        </p:spPr>
        <p:txBody>
          <a:bodyPr wrap="square" lIns="0" tIns="0" rIns="0" bIns="0" rtlCol="0" anchor="t">
            <a:normAutofit/>
          </a:bodyPr>
          <a:lstStyle/>
          <a:p>
            <a:pPr algn="l" indent="0" marL="0">
              <a:lnSpc>
                <a:spcPct val="128000"/>
              </a:lnSpc>
              <a:buNone/>
            </a:pPr>
            <a:r>
              <a:rPr lang="en-US" sz="1050" dirty="0">
                <a:solidFill>
                  <a:srgbClr val="D6E5EF"/>
                </a:solidFill>
                <a:latin typeface="Source Sans 3" pitchFamily="34" charset="0"/>
                <a:ea typeface="Source Sans 3" pitchFamily="34" charset="-122"/>
                <a:cs typeface="Source Sans 3" pitchFamily="34" charset="-120"/>
              </a:rPr>
              <a:t>The project helps understand how different weather factors influence rainfall and demonstrates how data analysis can support weather forecasting and decision-making in areas such as agriculture and disaster management.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23577" y="429964"/>
            <a:ext cx="8096845" cy="335459"/>
          </a:xfrm>
          <a:prstGeom prst="rect">
            <a:avLst/>
          </a:prstGeom>
          <a:noFill/>
          <a:ln/>
        </p:spPr>
        <p:txBody>
          <a:bodyPr wrap="none" lIns="0" tIns="0" rIns="0" bIns="0" rtlCol="0" anchor="t"/>
          <a:lstStyle/>
          <a:p>
            <a:pPr algn="l" indent="0" marL="0">
              <a:lnSpc>
                <a:spcPct val="104000"/>
              </a:lnSpc>
              <a:buNone/>
            </a:pPr>
            <a:r>
              <a:rPr lang="en-US" sz="2100" dirty="0">
                <a:solidFill>
                  <a:srgbClr val="F98AC7"/>
                </a:solidFill>
                <a:latin typeface="Lora" pitchFamily="34" charset="0"/>
                <a:ea typeface="Lora" pitchFamily="34" charset="-122"/>
                <a:cs typeface="Lora" pitchFamily="34" charset="-120"/>
              </a:rPr>
              <a:t>Objectives</a:t>
            </a:r>
            <a:endParaRPr lang="en-US" sz="2100" dirty="0"/>
          </a:p>
        </p:txBody>
      </p:sp>
      <p:sp>
        <p:nvSpPr>
          <p:cNvPr id="3" name="Shape 1"/>
          <p:cNvSpPr/>
          <p:nvPr/>
        </p:nvSpPr>
        <p:spPr>
          <a:xfrm>
            <a:off x="523577" y="1037183"/>
            <a:ext cx="2608362" cy="1687264"/>
          </a:xfrm>
          <a:prstGeom prst="roundRect">
            <a:avLst>
              <a:gd name="adj" fmla="val 1268"/>
            </a:avLst>
          </a:prstGeom>
          <a:solidFill>
            <a:srgbClr val="444752"/>
          </a:solidFill>
          <a:ln/>
        </p:spPr>
      </p:sp>
      <p:sp>
        <p:nvSpPr>
          <p:cNvPr id="4" name="Shape 2"/>
          <p:cNvSpPr/>
          <p:nvPr/>
        </p:nvSpPr>
        <p:spPr>
          <a:xfrm>
            <a:off x="666155" y="1179761"/>
            <a:ext cx="427732" cy="427732"/>
          </a:xfrm>
          <a:prstGeom prst="ellipse">
            <a:avLst/>
          </a:prstGeom>
          <a:solidFill>
            <a:srgbClr val="6EB9FC"/>
          </a:solidFill>
          <a:ln/>
        </p:spPr>
      </p:sp>
      <p:sp>
        <p:nvSpPr>
          <p:cNvPr id="5" name="Text 3"/>
          <p:cNvSpPr/>
          <p:nvPr/>
        </p:nvSpPr>
        <p:spPr>
          <a:xfrm>
            <a:off x="783729" y="1273299"/>
            <a:ext cx="192509" cy="240581"/>
          </a:xfrm>
          <a:prstGeom prst="rect">
            <a:avLst/>
          </a:prstGeom>
          <a:noFill/>
          <a:ln/>
        </p:spPr>
        <p:txBody>
          <a:bodyPr wrap="none" lIns="0" tIns="0" rIns="0" bIns="0" rtlCol="0" anchor="ctr"/>
          <a:lstStyle/>
          <a:p>
            <a:pPr algn="ctr" indent="0" marL="0">
              <a:lnSpc>
                <a:spcPct val="100000"/>
              </a:lnSpc>
              <a:buNone/>
            </a:pPr>
            <a:r>
              <a:rPr lang="en-US" sz="1500" dirty="0">
                <a:solidFill>
                  <a:srgbClr val="000000"/>
                </a:solidFill>
                <a:latin typeface="Lora" pitchFamily="34" charset="0"/>
                <a:ea typeface="Lora" pitchFamily="34" charset="-122"/>
                <a:cs typeface="Lora" pitchFamily="34" charset="-120"/>
              </a:rPr>
              <a:t>1</a:t>
            </a:r>
            <a:endParaRPr lang="en-US" sz="1500" dirty="0"/>
          </a:p>
        </p:txBody>
      </p:sp>
      <p:sp>
        <p:nvSpPr>
          <p:cNvPr id="6" name="Text 4"/>
          <p:cNvSpPr/>
          <p:nvPr/>
        </p:nvSpPr>
        <p:spPr>
          <a:xfrm>
            <a:off x="666155" y="1743373"/>
            <a:ext cx="2323207" cy="838498"/>
          </a:xfrm>
          <a:prstGeom prst="rect">
            <a:avLst/>
          </a:prstGeom>
          <a:noFill/>
          <a:ln/>
        </p:spPr>
        <p:txBody>
          <a:bodyPr wrap="square" lIns="0" tIns="0" rIns="0" bIns="0" rtlCol="0" anchor="t">
            <a:normAutofit/>
          </a:bodyPr>
          <a:lstStyle/>
          <a:p>
            <a:pPr algn="l" indent="0" marL="0">
              <a:lnSpc>
                <a:spcPct val="104000"/>
              </a:lnSpc>
              <a:buNone/>
            </a:pPr>
            <a:r>
              <a:rPr lang="en-US" sz="1300" b="1" dirty="0">
                <a:solidFill>
                  <a:srgbClr val="D6E5EF"/>
                </a:solidFill>
                <a:latin typeface="Lora Bold" pitchFamily="34" charset="0"/>
                <a:ea typeface="Lora Bold" pitchFamily="34" charset="-122"/>
                <a:cs typeface="Lora Bold" pitchFamily="34" charset="-120"/>
              </a:rPr>
              <a:t>To analyze historical weather data</a:t>
            </a:r>
            <a:pPr algn="l" indent="0" marL="0">
              <a:lnSpc>
                <a:spcPct val="104000"/>
              </a:lnSpc>
              <a:buNone/>
            </a:pPr>
            <a:r>
              <a:rPr lang="en-US" sz="1300" dirty="0">
                <a:solidFill>
                  <a:srgbClr val="D6E5EF"/>
                </a:solidFill>
                <a:latin typeface="Lora" pitchFamily="34" charset="0"/>
                <a:ea typeface="Lora" pitchFamily="34" charset="-122"/>
                <a:cs typeface="Lora" pitchFamily="34" charset="-120"/>
              </a:rPr>
              <a:t> from different regions of India using Python and Data Science techniques.</a:t>
            </a:r>
            <a:endParaRPr lang="en-US" sz="1300" dirty="0"/>
          </a:p>
        </p:txBody>
      </p:sp>
      <p:sp>
        <p:nvSpPr>
          <p:cNvPr id="7" name="Shape 5"/>
          <p:cNvSpPr/>
          <p:nvPr/>
        </p:nvSpPr>
        <p:spPr>
          <a:xfrm>
            <a:off x="3267819" y="1037183"/>
            <a:ext cx="2608362" cy="1687264"/>
          </a:xfrm>
          <a:prstGeom prst="roundRect">
            <a:avLst>
              <a:gd name="adj" fmla="val 1268"/>
            </a:avLst>
          </a:prstGeom>
          <a:solidFill>
            <a:srgbClr val="444752"/>
          </a:solidFill>
          <a:ln/>
        </p:spPr>
      </p:sp>
      <p:sp>
        <p:nvSpPr>
          <p:cNvPr id="8" name="Shape 6"/>
          <p:cNvSpPr/>
          <p:nvPr/>
        </p:nvSpPr>
        <p:spPr>
          <a:xfrm>
            <a:off x="3410396" y="1179761"/>
            <a:ext cx="427732" cy="427732"/>
          </a:xfrm>
          <a:prstGeom prst="ellipse">
            <a:avLst/>
          </a:prstGeom>
          <a:solidFill>
            <a:srgbClr val="6EB9FC"/>
          </a:solidFill>
          <a:ln/>
        </p:spPr>
      </p:sp>
      <p:sp>
        <p:nvSpPr>
          <p:cNvPr id="9" name="Text 7"/>
          <p:cNvSpPr/>
          <p:nvPr/>
        </p:nvSpPr>
        <p:spPr>
          <a:xfrm>
            <a:off x="3527971" y="1273299"/>
            <a:ext cx="192509" cy="240581"/>
          </a:xfrm>
          <a:prstGeom prst="rect">
            <a:avLst/>
          </a:prstGeom>
          <a:noFill/>
          <a:ln/>
        </p:spPr>
        <p:txBody>
          <a:bodyPr wrap="none" lIns="0" tIns="0" rIns="0" bIns="0" rtlCol="0" anchor="ctr"/>
          <a:lstStyle/>
          <a:p>
            <a:pPr algn="ctr" indent="0" marL="0">
              <a:lnSpc>
                <a:spcPct val="100000"/>
              </a:lnSpc>
              <a:buNone/>
            </a:pPr>
            <a:r>
              <a:rPr lang="en-US" sz="1500" dirty="0">
                <a:solidFill>
                  <a:srgbClr val="000000"/>
                </a:solidFill>
                <a:latin typeface="Lora" pitchFamily="34" charset="0"/>
                <a:ea typeface="Lora" pitchFamily="34" charset="-122"/>
                <a:cs typeface="Lora" pitchFamily="34" charset="-120"/>
              </a:rPr>
              <a:t>2</a:t>
            </a:r>
            <a:endParaRPr lang="en-US" sz="1500" dirty="0"/>
          </a:p>
        </p:txBody>
      </p:sp>
      <p:sp>
        <p:nvSpPr>
          <p:cNvPr id="10" name="Text 8"/>
          <p:cNvSpPr/>
          <p:nvPr/>
        </p:nvSpPr>
        <p:spPr>
          <a:xfrm>
            <a:off x="3410396" y="1743373"/>
            <a:ext cx="2323207" cy="628873"/>
          </a:xfrm>
          <a:prstGeom prst="rect">
            <a:avLst/>
          </a:prstGeom>
          <a:noFill/>
          <a:ln/>
        </p:spPr>
        <p:txBody>
          <a:bodyPr wrap="square" lIns="0" tIns="0" rIns="0" bIns="0" rtlCol="0" anchor="t">
            <a:normAutofit/>
          </a:bodyPr>
          <a:lstStyle/>
          <a:p>
            <a:pPr algn="l" indent="0" marL="0">
              <a:lnSpc>
                <a:spcPct val="104000"/>
              </a:lnSpc>
              <a:buNone/>
            </a:pPr>
            <a:r>
              <a:rPr lang="en-US" sz="1300" b="1" dirty="0">
                <a:solidFill>
                  <a:srgbClr val="D6E5EF"/>
                </a:solidFill>
                <a:latin typeface="Lora Bold" pitchFamily="34" charset="0"/>
                <a:ea typeface="Lora Bold" pitchFamily="34" charset="-122"/>
                <a:cs typeface="Lora Bold" pitchFamily="34" charset="-120"/>
              </a:rPr>
              <a:t>To identify rainfall patterns</a:t>
            </a:r>
            <a:pPr algn="l" indent="0" marL="0">
              <a:lnSpc>
                <a:spcPct val="104000"/>
              </a:lnSpc>
              <a:buNone/>
            </a:pPr>
            <a:r>
              <a:rPr lang="en-US" sz="1300" dirty="0">
                <a:solidFill>
                  <a:srgbClr val="D6E5EF"/>
                </a:solidFill>
                <a:latin typeface="Lora" pitchFamily="34" charset="0"/>
                <a:ea typeface="Lora" pitchFamily="34" charset="-122"/>
                <a:cs typeface="Lora" pitchFamily="34" charset="-120"/>
              </a:rPr>
              <a:t> across different states and seasons.</a:t>
            </a:r>
            <a:endParaRPr lang="en-US" sz="1300" dirty="0"/>
          </a:p>
        </p:txBody>
      </p:sp>
      <p:sp>
        <p:nvSpPr>
          <p:cNvPr id="11" name="Shape 9"/>
          <p:cNvSpPr/>
          <p:nvPr/>
        </p:nvSpPr>
        <p:spPr>
          <a:xfrm>
            <a:off x="6012061" y="1037183"/>
            <a:ext cx="2608362" cy="1687264"/>
          </a:xfrm>
          <a:prstGeom prst="roundRect">
            <a:avLst>
              <a:gd name="adj" fmla="val 1268"/>
            </a:avLst>
          </a:prstGeom>
          <a:solidFill>
            <a:srgbClr val="444752"/>
          </a:solidFill>
          <a:ln/>
        </p:spPr>
      </p:sp>
      <p:sp>
        <p:nvSpPr>
          <p:cNvPr id="12" name="Shape 10"/>
          <p:cNvSpPr/>
          <p:nvPr/>
        </p:nvSpPr>
        <p:spPr>
          <a:xfrm>
            <a:off x="6154638" y="1179761"/>
            <a:ext cx="427732" cy="427732"/>
          </a:xfrm>
          <a:prstGeom prst="ellipse">
            <a:avLst/>
          </a:prstGeom>
          <a:solidFill>
            <a:srgbClr val="6EB9FC"/>
          </a:solidFill>
          <a:ln/>
        </p:spPr>
      </p:sp>
      <p:sp>
        <p:nvSpPr>
          <p:cNvPr id="13" name="Text 11"/>
          <p:cNvSpPr/>
          <p:nvPr/>
        </p:nvSpPr>
        <p:spPr>
          <a:xfrm>
            <a:off x="6272213" y="1273299"/>
            <a:ext cx="192509" cy="240581"/>
          </a:xfrm>
          <a:prstGeom prst="rect">
            <a:avLst/>
          </a:prstGeom>
          <a:noFill/>
          <a:ln/>
        </p:spPr>
        <p:txBody>
          <a:bodyPr wrap="none" lIns="0" tIns="0" rIns="0" bIns="0" rtlCol="0" anchor="ctr"/>
          <a:lstStyle/>
          <a:p>
            <a:pPr algn="ctr" indent="0" marL="0">
              <a:lnSpc>
                <a:spcPct val="100000"/>
              </a:lnSpc>
              <a:buNone/>
            </a:pPr>
            <a:r>
              <a:rPr lang="en-US" sz="1500" dirty="0">
                <a:solidFill>
                  <a:srgbClr val="000000"/>
                </a:solidFill>
                <a:latin typeface="Lora" pitchFamily="34" charset="0"/>
                <a:ea typeface="Lora" pitchFamily="34" charset="-122"/>
                <a:cs typeface="Lora" pitchFamily="34" charset="-120"/>
              </a:rPr>
              <a:t>3</a:t>
            </a:r>
            <a:endParaRPr lang="en-US" sz="1500" dirty="0"/>
          </a:p>
        </p:txBody>
      </p:sp>
      <p:sp>
        <p:nvSpPr>
          <p:cNvPr id="14" name="Text 12"/>
          <p:cNvSpPr/>
          <p:nvPr/>
        </p:nvSpPr>
        <p:spPr>
          <a:xfrm>
            <a:off x="6154638" y="1743373"/>
            <a:ext cx="2323207" cy="838498"/>
          </a:xfrm>
          <a:prstGeom prst="rect">
            <a:avLst/>
          </a:prstGeom>
          <a:noFill/>
          <a:ln/>
        </p:spPr>
        <p:txBody>
          <a:bodyPr wrap="square" lIns="0" tIns="0" rIns="0" bIns="0" rtlCol="0" anchor="t">
            <a:normAutofit/>
          </a:bodyPr>
          <a:lstStyle/>
          <a:p>
            <a:pPr algn="l" indent="0" marL="0">
              <a:lnSpc>
                <a:spcPct val="104000"/>
              </a:lnSpc>
              <a:buNone/>
            </a:pPr>
            <a:r>
              <a:rPr lang="en-US" sz="1300" b="1" dirty="0">
                <a:solidFill>
                  <a:srgbClr val="D6E5EF"/>
                </a:solidFill>
                <a:latin typeface="Lora Bold" pitchFamily="34" charset="0"/>
                <a:ea typeface="Lora Bold" pitchFamily="34" charset="-122"/>
                <a:cs typeface="Lora Bold" pitchFamily="34" charset="-120"/>
              </a:rPr>
              <a:t>To perform Exploratory Data Analysis (EDA)</a:t>
            </a:r>
            <a:pPr algn="l" indent="0" marL="0">
              <a:lnSpc>
                <a:spcPct val="104000"/>
              </a:lnSpc>
              <a:buNone/>
            </a:pPr>
            <a:r>
              <a:rPr lang="en-US" sz="1300" dirty="0">
                <a:solidFill>
                  <a:srgbClr val="D6E5EF"/>
                </a:solidFill>
                <a:latin typeface="Lora" pitchFamily="34" charset="0"/>
                <a:ea typeface="Lora" pitchFamily="34" charset="-122"/>
                <a:cs typeface="Lora" pitchFamily="34" charset="-120"/>
              </a:rPr>
              <a:t> using graphs and visualizations for better understanding of the dataset.</a:t>
            </a:r>
            <a:endParaRPr lang="en-US" sz="1300" dirty="0"/>
          </a:p>
        </p:txBody>
      </p:sp>
      <p:sp>
        <p:nvSpPr>
          <p:cNvPr id="15" name="Shape 13"/>
          <p:cNvSpPr/>
          <p:nvPr/>
        </p:nvSpPr>
        <p:spPr>
          <a:xfrm>
            <a:off x="523577" y="2860328"/>
            <a:ext cx="3980483" cy="1477640"/>
          </a:xfrm>
          <a:prstGeom prst="roundRect">
            <a:avLst>
              <a:gd name="adj" fmla="val 1448"/>
            </a:avLst>
          </a:prstGeom>
          <a:solidFill>
            <a:srgbClr val="444752"/>
          </a:solidFill>
          <a:ln/>
        </p:spPr>
      </p:sp>
      <p:sp>
        <p:nvSpPr>
          <p:cNvPr id="16" name="Shape 14"/>
          <p:cNvSpPr/>
          <p:nvPr/>
        </p:nvSpPr>
        <p:spPr>
          <a:xfrm>
            <a:off x="666155" y="3002905"/>
            <a:ext cx="427732" cy="427732"/>
          </a:xfrm>
          <a:prstGeom prst="ellipse">
            <a:avLst/>
          </a:prstGeom>
          <a:solidFill>
            <a:srgbClr val="6EB9FC"/>
          </a:solidFill>
          <a:ln/>
        </p:spPr>
      </p:sp>
      <p:sp>
        <p:nvSpPr>
          <p:cNvPr id="17" name="Text 15"/>
          <p:cNvSpPr/>
          <p:nvPr/>
        </p:nvSpPr>
        <p:spPr>
          <a:xfrm>
            <a:off x="783729" y="3096444"/>
            <a:ext cx="192509" cy="240581"/>
          </a:xfrm>
          <a:prstGeom prst="rect">
            <a:avLst/>
          </a:prstGeom>
          <a:noFill/>
          <a:ln/>
        </p:spPr>
        <p:txBody>
          <a:bodyPr wrap="none" lIns="0" tIns="0" rIns="0" bIns="0" rtlCol="0" anchor="ctr"/>
          <a:lstStyle/>
          <a:p>
            <a:pPr algn="ctr" indent="0" marL="0">
              <a:lnSpc>
                <a:spcPct val="100000"/>
              </a:lnSpc>
              <a:buNone/>
            </a:pPr>
            <a:r>
              <a:rPr lang="en-US" sz="1500" dirty="0">
                <a:solidFill>
                  <a:srgbClr val="000000"/>
                </a:solidFill>
                <a:latin typeface="Lora" pitchFamily="34" charset="0"/>
                <a:ea typeface="Lora" pitchFamily="34" charset="-122"/>
                <a:cs typeface="Lora" pitchFamily="34" charset="-120"/>
              </a:rPr>
              <a:t>4</a:t>
            </a:r>
            <a:endParaRPr lang="en-US" sz="1500" dirty="0"/>
          </a:p>
        </p:txBody>
      </p:sp>
      <p:sp>
        <p:nvSpPr>
          <p:cNvPr id="18" name="Text 16"/>
          <p:cNvSpPr/>
          <p:nvPr/>
        </p:nvSpPr>
        <p:spPr>
          <a:xfrm>
            <a:off x="666155" y="3566517"/>
            <a:ext cx="3695328" cy="628873"/>
          </a:xfrm>
          <a:prstGeom prst="rect">
            <a:avLst/>
          </a:prstGeom>
          <a:noFill/>
          <a:ln/>
        </p:spPr>
        <p:txBody>
          <a:bodyPr wrap="square" lIns="0" tIns="0" rIns="0" bIns="0" rtlCol="0" anchor="t">
            <a:normAutofit/>
          </a:bodyPr>
          <a:lstStyle/>
          <a:p>
            <a:pPr algn="l" indent="0" marL="0">
              <a:lnSpc>
                <a:spcPct val="104000"/>
              </a:lnSpc>
              <a:buNone/>
            </a:pPr>
            <a:r>
              <a:rPr lang="en-US" sz="1300" b="1" dirty="0">
                <a:solidFill>
                  <a:srgbClr val="D6E5EF"/>
                </a:solidFill>
                <a:latin typeface="Lora Bold" pitchFamily="34" charset="0"/>
                <a:ea typeface="Lora Bold" pitchFamily="34" charset="-122"/>
                <a:cs typeface="Lora Bold" pitchFamily="34" charset="-120"/>
              </a:rPr>
              <a:t>To support rainfall prediction</a:t>
            </a:r>
            <a:pPr algn="l" indent="0" marL="0">
              <a:lnSpc>
                <a:spcPct val="104000"/>
              </a:lnSpc>
              <a:buNone/>
            </a:pPr>
            <a:r>
              <a:rPr lang="en-US" sz="1300" dirty="0">
                <a:solidFill>
                  <a:srgbClr val="D6E5EF"/>
                </a:solidFill>
                <a:latin typeface="Lora" pitchFamily="34" charset="0"/>
                <a:ea typeface="Lora" pitchFamily="34" charset="-122"/>
                <a:cs typeface="Lora" pitchFamily="34" charset="-120"/>
              </a:rPr>
              <a:t> by analyzing historical weather trends and identifying important influencing factors.</a:t>
            </a:r>
            <a:endParaRPr lang="en-US" sz="1300" dirty="0"/>
          </a:p>
        </p:txBody>
      </p:sp>
      <p:sp>
        <p:nvSpPr>
          <p:cNvPr id="19" name="Shape 17"/>
          <p:cNvSpPr/>
          <p:nvPr/>
        </p:nvSpPr>
        <p:spPr>
          <a:xfrm>
            <a:off x="4639940" y="2860328"/>
            <a:ext cx="3980483" cy="1477640"/>
          </a:xfrm>
          <a:prstGeom prst="roundRect">
            <a:avLst>
              <a:gd name="adj" fmla="val 1448"/>
            </a:avLst>
          </a:prstGeom>
          <a:solidFill>
            <a:srgbClr val="444752"/>
          </a:solidFill>
          <a:ln/>
        </p:spPr>
      </p:sp>
      <p:sp>
        <p:nvSpPr>
          <p:cNvPr id="20" name="Shape 18"/>
          <p:cNvSpPr/>
          <p:nvPr/>
        </p:nvSpPr>
        <p:spPr>
          <a:xfrm>
            <a:off x="4782517" y="3002905"/>
            <a:ext cx="427732" cy="427732"/>
          </a:xfrm>
          <a:prstGeom prst="ellipse">
            <a:avLst/>
          </a:prstGeom>
          <a:solidFill>
            <a:srgbClr val="6EB9FC"/>
          </a:solidFill>
          <a:ln/>
        </p:spPr>
      </p:sp>
      <p:sp>
        <p:nvSpPr>
          <p:cNvPr id="21" name="Text 19"/>
          <p:cNvSpPr/>
          <p:nvPr/>
        </p:nvSpPr>
        <p:spPr>
          <a:xfrm>
            <a:off x="4900092" y="3096444"/>
            <a:ext cx="192509" cy="240581"/>
          </a:xfrm>
          <a:prstGeom prst="rect">
            <a:avLst/>
          </a:prstGeom>
          <a:noFill/>
          <a:ln/>
        </p:spPr>
        <p:txBody>
          <a:bodyPr wrap="none" lIns="0" tIns="0" rIns="0" bIns="0" rtlCol="0" anchor="ctr"/>
          <a:lstStyle/>
          <a:p>
            <a:pPr algn="ctr" indent="0" marL="0">
              <a:lnSpc>
                <a:spcPct val="100000"/>
              </a:lnSpc>
              <a:buNone/>
            </a:pPr>
            <a:r>
              <a:rPr lang="en-US" sz="1500" dirty="0">
                <a:solidFill>
                  <a:srgbClr val="000000"/>
                </a:solidFill>
                <a:latin typeface="Lora" pitchFamily="34" charset="0"/>
                <a:ea typeface="Lora" pitchFamily="34" charset="-122"/>
                <a:cs typeface="Lora" pitchFamily="34" charset="-120"/>
              </a:rPr>
              <a:t>5</a:t>
            </a:r>
            <a:endParaRPr lang="en-US" sz="1500" dirty="0"/>
          </a:p>
        </p:txBody>
      </p:sp>
      <p:sp>
        <p:nvSpPr>
          <p:cNvPr id="22" name="Text 20"/>
          <p:cNvSpPr/>
          <p:nvPr/>
        </p:nvSpPr>
        <p:spPr>
          <a:xfrm>
            <a:off x="4782517" y="3566517"/>
            <a:ext cx="3695328" cy="628873"/>
          </a:xfrm>
          <a:prstGeom prst="rect">
            <a:avLst/>
          </a:prstGeom>
          <a:noFill/>
          <a:ln/>
        </p:spPr>
        <p:txBody>
          <a:bodyPr wrap="square" lIns="0" tIns="0" rIns="0" bIns="0" rtlCol="0" anchor="t">
            <a:normAutofit/>
          </a:bodyPr>
          <a:lstStyle/>
          <a:p>
            <a:pPr algn="l" indent="0" marL="0">
              <a:lnSpc>
                <a:spcPct val="104000"/>
              </a:lnSpc>
              <a:buNone/>
            </a:pPr>
            <a:r>
              <a:rPr lang="en-US" sz="1300" b="1" dirty="0">
                <a:solidFill>
                  <a:srgbClr val="D6E5EF"/>
                </a:solidFill>
                <a:latin typeface="Lora Bold" pitchFamily="34" charset="0"/>
                <a:ea typeface="Lora Bold" pitchFamily="34" charset="-122"/>
                <a:cs typeface="Lora Bold" pitchFamily="34" charset="-120"/>
              </a:rPr>
              <a:t>To develop practical skills</a:t>
            </a:r>
            <a:pPr algn="l" indent="0" marL="0">
              <a:lnSpc>
                <a:spcPct val="104000"/>
              </a:lnSpc>
              <a:buNone/>
            </a:pPr>
            <a:r>
              <a:rPr lang="en-US" sz="1300" dirty="0">
                <a:solidFill>
                  <a:srgbClr val="D6E5EF"/>
                </a:solidFill>
                <a:latin typeface="Lora" pitchFamily="34" charset="0"/>
                <a:ea typeface="Lora" pitchFamily="34" charset="-122"/>
                <a:cs typeface="Lora" pitchFamily="34" charset="-120"/>
              </a:rPr>
              <a:t> in Python libraries such as Pandas, NumPy, Matplotlib, Seaborn for real-world data analysis.</a:t>
            </a:r>
            <a:endParaRPr lang="en-US" sz="1300" dirty="0"/>
          </a:p>
        </p:txBody>
      </p:sp>
      <p:sp>
        <p:nvSpPr>
          <p:cNvPr id="23" name="Text 21"/>
          <p:cNvSpPr/>
          <p:nvPr/>
        </p:nvSpPr>
        <p:spPr>
          <a:xfrm>
            <a:off x="523577" y="4490814"/>
            <a:ext cx="8554045" cy="222721"/>
          </a:xfrm>
          <a:prstGeom prst="rect">
            <a:avLst/>
          </a:prstGeom>
          <a:noFill/>
          <a:ln/>
        </p:spPr>
        <p:txBody>
          <a:bodyPr wrap="none" lIns="0" tIns="0" rIns="0" bIns="0" rtlCol="0" anchor="t"/>
          <a:lstStyle/>
          <a:p>
            <a:pPr algn="l" indent="0" marL="0">
              <a:lnSpc>
                <a:spcPct val="130000"/>
              </a:lnSpc>
              <a:buNone/>
            </a:pP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23577" y="438373"/>
            <a:ext cx="8096845" cy="426244"/>
          </a:xfrm>
          <a:prstGeom prst="rect">
            <a:avLst/>
          </a:prstGeom>
          <a:noFill/>
          <a:ln/>
        </p:spPr>
        <p:txBody>
          <a:bodyPr wrap="none" lIns="0" tIns="0" rIns="0" bIns="0" rtlCol="0" anchor="t"/>
          <a:lstStyle/>
          <a:p>
            <a:pPr algn="l" indent="0" marL="0">
              <a:lnSpc>
                <a:spcPct val="104000"/>
              </a:lnSpc>
              <a:buNone/>
            </a:pPr>
            <a:r>
              <a:rPr lang="en-US" sz="2650" dirty="0">
                <a:solidFill>
                  <a:srgbClr val="F98AC7"/>
                </a:solidFill>
                <a:latin typeface="Lora" pitchFamily="34" charset="0"/>
                <a:ea typeface="Lora" pitchFamily="34" charset="-122"/>
                <a:cs typeface="Lora" pitchFamily="34" charset="-120"/>
              </a:rPr>
              <a:t>Indian Weather Related Questions</a:t>
            </a:r>
            <a:endParaRPr lang="en-US" sz="2650" dirty="0"/>
          </a:p>
        </p:txBody>
      </p:sp>
      <p:sp>
        <p:nvSpPr>
          <p:cNvPr id="3" name="Shape 1"/>
          <p:cNvSpPr/>
          <p:nvPr/>
        </p:nvSpPr>
        <p:spPr>
          <a:xfrm>
            <a:off x="4562475" y="1145381"/>
            <a:ext cx="19050" cy="3559746"/>
          </a:xfrm>
          <a:prstGeom prst="roundRect">
            <a:avLst>
              <a:gd name="adj" fmla="val 114124"/>
            </a:avLst>
          </a:prstGeom>
          <a:solidFill>
            <a:srgbClr val="5D606B"/>
          </a:solidFill>
          <a:ln/>
        </p:spPr>
      </p:sp>
      <p:sp>
        <p:nvSpPr>
          <p:cNvPr id="4" name="Shape 2"/>
          <p:cNvSpPr/>
          <p:nvPr/>
        </p:nvSpPr>
        <p:spPr>
          <a:xfrm>
            <a:off x="4301207" y="1298897"/>
            <a:ext cx="289843" cy="19050"/>
          </a:xfrm>
          <a:prstGeom prst="roundRect">
            <a:avLst>
              <a:gd name="adj" fmla="val 114124"/>
            </a:avLst>
          </a:prstGeom>
          <a:solidFill>
            <a:srgbClr val="5D606B"/>
          </a:solidFill>
          <a:ln/>
        </p:spPr>
      </p:sp>
      <p:sp>
        <p:nvSpPr>
          <p:cNvPr id="5" name="Shape 3"/>
          <p:cNvSpPr/>
          <p:nvPr/>
        </p:nvSpPr>
        <p:spPr>
          <a:xfrm>
            <a:off x="4517678" y="1254100"/>
            <a:ext cx="108645" cy="108645"/>
          </a:xfrm>
          <a:prstGeom prst="ellipse">
            <a:avLst/>
          </a:prstGeom>
          <a:solidFill>
            <a:srgbClr val="6EB9FC"/>
          </a:solidFill>
          <a:ln/>
        </p:spPr>
      </p:sp>
      <p:sp>
        <p:nvSpPr>
          <p:cNvPr id="6" name="Text 4"/>
          <p:cNvSpPr/>
          <p:nvPr/>
        </p:nvSpPr>
        <p:spPr>
          <a:xfrm>
            <a:off x="523577" y="1195164"/>
            <a:ext cx="3468737" cy="426095"/>
          </a:xfrm>
          <a:prstGeom prst="rect">
            <a:avLst/>
          </a:prstGeom>
          <a:noFill/>
          <a:ln/>
        </p:spPr>
        <p:txBody>
          <a:bodyPr wrap="square" lIns="0" tIns="0" rIns="0" bIns="0" rtlCol="0" anchor="t">
            <a:normAutofit/>
          </a:bodyPr>
          <a:lstStyle/>
          <a:p>
            <a:pPr algn="r" indent="0" marL="0">
              <a:lnSpc>
                <a:spcPct val="104000"/>
              </a:lnSpc>
              <a:buNone/>
            </a:pPr>
            <a:r>
              <a:rPr lang="en-US" sz="1300" dirty="0">
                <a:solidFill>
                  <a:srgbClr val="D6E5EF"/>
                </a:solidFill>
                <a:latin typeface="Lora" pitchFamily="34" charset="0"/>
                <a:ea typeface="Lora" pitchFamily="34" charset="-122"/>
                <a:cs typeface="Lora" pitchFamily="34" charset="-120"/>
              </a:rPr>
              <a:t>Which are the top 10 Indian states with the highest average rainfall?</a:t>
            </a:r>
            <a:endParaRPr lang="en-US" sz="1300" dirty="0"/>
          </a:p>
        </p:txBody>
      </p:sp>
      <p:sp>
        <p:nvSpPr>
          <p:cNvPr id="7" name="Shape 5"/>
          <p:cNvSpPr/>
          <p:nvPr/>
        </p:nvSpPr>
        <p:spPr>
          <a:xfrm>
            <a:off x="4552950" y="2159347"/>
            <a:ext cx="289843" cy="19050"/>
          </a:xfrm>
          <a:prstGeom prst="roundRect">
            <a:avLst>
              <a:gd name="adj" fmla="val 114124"/>
            </a:avLst>
          </a:prstGeom>
          <a:solidFill>
            <a:srgbClr val="5D606B"/>
          </a:solidFill>
          <a:ln/>
        </p:spPr>
      </p:sp>
      <p:sp>
        <p:nvSpPr>
          <p:cNvPr id="8" name="Shape 6"/>
          <p:cNvSpPr/>
          <p:nvPr/>
        </p:nvSpPr>
        <p:spPr>
          <a:xfrm>
            <a:off x="4517678" y="2114550"/>
            <a:ext cx="108645" cy="108645"/>
          </a:xfrm>
          <a:prstGeom prst="ellipse">
            <a:avLst/>
          </a:prstGeom>
          <a:solidFill>
            <a:srgbClr val="6EB9FC"/>
          </a:solidFill>
          <a:ln/>
        </p:spPr>
      </p:sp>
      <p:sp>
        <p:nvSpPr>
          <p:cNvPr id="9" name="Text 7"/>
          <p:cNvSpPr/>
          <p:nvPr/>
        </p:nvSpPr>
        <p:spPr>
          <a:xfrm>
            <a:off x="5151686" y="2055614"/>
            <a:ext cx="3468737" cy="426095"/>
          </a:xfrm>
          <a:prstGeom prst="rect">
            <a:avLst/>
          </a:prstGeom>
          <a:noFill/>
          <a:ln/>
        </p:spPr>
        <p:txBody>
          <a:bodyPr wrap="square" lIns="0" tIns="0" rIns="0" bIns="0" rtlCol="0" anchor="t">
            <a:normAutofit/>
          </a:bodyPr>
          <a:lstStyle/>
          <a:p>
            <a:pPr algn="l" indent="0" marL="0">
              <a:lnSpc>
                <a:spcPct val="104000"/>
              </a:lnSpc>
              <a:buNone/>
            </a:pPr>
            <a:r>
              <a:rPr lang="en-US" sz="1300" dirty="0">
                <a:solidFill>
                  <a:srgbClr val="D6E5EF"/>
                </a:solidFill>
                <a:latin typeface="Lora" pitchFamily="34" charset="0"/>
                <a:ea typeface="Lora" pitchFamily="34" charset="-122"/>
                <a:cs typeface="Lora" pitchFamily="34" charset="-120"/>
              </a:rPr>
              <a:t>What is the relationship between temperature and rainfall?</a:t>
            </a:r>
            <a:endParaRPr lang="en-US" sz="1300" dirty="0"/>
          </a:p>
        </p:txBody>
      </p:sp>
      <p:sp>
        <p:nvSpPr>
          <p:cNvPr id="10" name="Shape 8"/>
          <p:cNvSpPr/>
          <p:nvPr/>
        </p:nvSpPr>
        <p:spPr>
          <a:xfrm>
            <a:off x="4301207" y="2904306"/>
            <a:ext cx="289843" cy="19050"/>
          </a:xfrm>
          <a:prstGeom prst="roundRect">
            <a:avLst>
              <a:gd name="adj" fmla="val 114124"/>
            </a:avLst>
          </a:prstGeom>
          <a:solidFill>
            <a:srgbClr val="5D606B"/>
          </a:solidFill>
          <a:ln/>
        </p:spPr>
      </p:sp>
      <p:sp>
        <p:nvSpPr>
          <p:cNvPr id="11" name="Shape 9"/>
          <p:cNvSpPr/>
          <p:nvPr/>
        </p:nvSpPr>
        <p:spPr>
          <a:xfrm>
            <a:off x="4517678" y="2859509"/>
            <a:ext cx="108645" cy="108645"/>
          </a:xfrm>
          <a:prstGeom prst="ellipse">
            <a:avLst/>
          </a:prstGeom>
          <a:solidFill>
            <a:srgbClr val="6EB9FC"/>
          </a:solidFill>
          <a:ln/>
        </p:spPr>
      </p:sp>
      <p:sp>
        <p:nvSpPr>
          <p:cNvPr id="12" name="Text 10"/>
          <p:cNvSpPr/>
          <p:nvPr/>
        </p:nvSpPr>
        <p:spPr>
          <a:xfrm>
            <a:off x="523577" y="2800573"/>
            <a:ext cx="3468737" cy="426095"/>
          </a:xfrm>
          <a:prstGeom prst="rect">
            <a:avLst/>
          </a:prstGeom>
          <a:noFill/>
          <a:ln/>
        </p:spPr>
        <p:txBody>
          <a:bodyPr wrap="square" lIns="0" tIns="0" rIns="0" bIns="0" rtlCol="0" anchor="t">
            <a:normAutofit/>
          </a:bodyPr>
          <a:lstStyle/>
          <a:p>
            <a:pPr algn="r" indent="0" marL="0">
              <a:lnSpc>
                <a:spcPct val="104000"/>
              </a:lnSpc>
              <a:buNone/>
            </a:pPr>
            <a:r>
              <a:rPr lang="en-US" sz="1300" dirty="0">
                <a:solidFill>
                  <a:srgbClr val="D6E5EF"/>
                </a:solidFill>
                <a:latin typeface="Lora" pitchFamily="34" charset="0"/>
                <a:ea typeface="Lora" pitchFamily="34" charset="-122"/>
                <a:cs typeface="Lora" pitchFamily="34" charset="-120"/>
              </a:rPr>
              <a:t>How does rainfall vary across different seasons in India?</a:t>
            </a:r>
            <a:endParaRPr lang="en-US" sz="1300" dirty="0"/>
          </a:p>
        </p:txBody>
      </p:sp>
      <p:sp>
        <p:nvSpPr>
          <p:cNvPr id="13" name="Shape 11"/>
          <p:cNvSpPr/>
          <p:nvPr/>
        </p:nvSpPr>
        <p:spPr>
          <a:xfrm>
            <a:off x="4552950" y="3649340"/>
            <a:ext cx="289843" cy="19050"/>
          </a:xfrm>
          <a:prstGeom prst="roundRect">
            <a:avLst>
              <a:gd name="adj" fmla="val 114124"/>
            </a:avLst>
          </a:prstGeom>
          <a:solidFill>
            <a:srgbClr val="5D606B"/>
          </a:solidFill>
          <a:ln/>
        </p:spPr>
      </p:sp>
      <p:sp>
        <p:nvSpPr>
          <p:cNvPr id="14" name="Shape 12"/>
          <p:cNvSpPr/>
          <p:nvPr/>
        </p:nvSpPr>
        <p:spPr>
          <a:xfrm>
            <a:off x="4517678" y="3604543"/>
            <a:ext cx="108645" cy="108645"/>
          </a:xfrm>
          <a:prstGeom prst="ellipse">
            <a:avLst/>
          </a:prstGeom>
          <a:solidFill>
            <a:srgbClr val="6EB9FC"/>
          </a:solidFill>
          <a:ln/>
        </p:spPr>
      </p:sp>
      <p:sp>
        <p:nvSpPr>
          <p:cNvPr id="15" name="Text 13"/>
          <p:cNvSpPr/>
          <p:nvPr/>
        </p:nvSpPr>
        <p:spPr>
          <a:xfrm>
            <a:off x="5151686" y="3545607"/>
            <a:ext cx="3468737" cy="426095"/>
          </a:xfrm>
          <a:prstGeom prst="rect">
            <a:avLst/>
          </a:prstGeom>
          <a:noFill/>
          <a:ln/>
        </p:spPr>
        <p:txBody>
          <a:bodyPr wrap="square" lIns="0" tIns="0" rIns="0" bIns="0" rtlCol="0" anchor="t">
            <a:normAutofit/>
          </a:bodyPr>
          <a:lstStyle/>
          <a:p>
            <a:pPr algn="l" indent="0" marL="0">
              <a:lnSpc>
                <a:spcPct val="104000"/>
              </a:lnSpc>
              <a:buNone/>
            </a:pPr>
            <a:r>
              <a:rPr lang="en-US" sz="1300" dirty="0">
                <a:solidFill>
                  <a:srgbClr val="D6E5EF"/>
                </a:solidFill>
                <a:latin typeface="Lora" pitchFamily="34" charset="0"/>
                <a:ea typeface="Lora" pitchFamily="34" charset="-122"/>
                <a:cs typeface="Lora" pitchFamily="34" charset="-120"/>
              </a:rPr>
              <a:t>How can Python and Data Science be used to analyze and predict rainfall patterns?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23577" y="501625"/>
            <a:ext cx="8096845" cy="226814"/>
          </a:xfrm>
          <a:prstGeom prst="rect">
            <a:avLst/>
          </a:prstGeom>
          <a:noFill/>
          <a:ln/>
        </p:spPr>
        <p:txBody>
          <a:bodyPr wrap="none" lIns="0" tIns="0" rIns="0" bIns="0" rtlCol="0" anchor="t"/>
          <a:lstStyle/>
          <a:p>
            <a:pPr algn="l" indent="0" marL="0">
              <a:lnSpc>
                <a:spcPct val="104000"/>
              </a:lnSpc>
              <a:buNone/>
            </a:pPr>
            <a:r>
              <a:rPr lang="en-US" sz="1400" dirty="0">
                <a:solidFill>
                  <a:srgbClr val="F98AC7"/>
                </a:solidFill>
                <a:latin typeface="Lora" pitchFamily="34" charset="0"/>
                <a:ea typeface="Lora" pitchFamily="34" charset="-122"/>
                <a:cs typeface="Lora" pitchFamily="34" charset="-120"/>
              </a:rPr>
              <a:t>Which are the top 10 Indian states with the highest average rainfall?</a:t>
            </a:r>
            <a:endParaRPr lang="en-US" sz="1400" dirty="0"/>
          </a:p>
        </p:txBody>
      </p:sp>
      <p:pic>
        <p:nvPicPr>
          <p:cNvPr id="3" name="Image 0" descr="preencoded.png">    </p:cNvPr>
          <p:cNvPicPr>
            <a:picLocks noChangeAspect="1"/>
          </p:cNvPicPr>
          <p:nvPr/>
        </p:nvPicPr>
        <p:blipFill>
          <a:blip r:embed="rId1"/>
          <a:stretch>
            <a:fillRect/>
          </a:stretch>
        </p:blipFill>
        <p:spPr>
          <a:xfrm>
            <a:off x="2947764" y="1032570"/>
            <a:ext cx="3248471" cy="1864296"/>
          </a:xfrm>
          <a:prstGeom prst="rect">
            <a:avLst/>
          </a:prstGeom>
        </p:spPr>
      </p:pic>
      <p:sp>
        <p:nvSpPr>
          <p:cNvPr id="4" name="Text 1"/>
          <p:cNvSpPr/>
          <p:nvPr/>
        </p:nvSpPr>
        <p:spPr>
          <a:xfrm>
            <a:off x="523577" y="3203749"/>
            <a:ext cx="2489597" cy="1338709"/>
          </a:xfrm>
          <a:prstGeom prst="rect">
            <a:avLst/>
          </a:prstGeom>
          <a:noFill/>
          <a:ln/>
        </p:spPr>
        <p:txBody>
          <a:bodyPr wrap="square" lIns="0" tIns="0" rIns="0" bIns="0" rtlCol="0" anchor="t">
            <a:normAutofit/>
          </a:bodyPr>
          <a:lstStyle/>
          <a:p>
            <a:pPr algn="l" indent="0" marL="0">
              <a:lnSpc>
                <a:spcPct val="124000"/>
              </a:lnSpc>
              <a:buNone/>
            </a:pPr>
            <a:r>
              <a:rPr lang="en-US" sz="1000" dirty="0">
                <a:solidFill>
                  <a:srgbClr val="D6E5EF"/>
                </a:solidFill>
                <a:latin typeface="Source Sans 3" pitchFamily="34" charset="0"/>
                <a:ea typeface="Source Sans 3" pitchFamily="34" charset="-122"/>
                <a:cs typeface="Source Sans 3" pitchFamily="34" charset="-120"/>
              </a:rPr>
              <a:t>According to the graph, Arunachal Pradesh (AR) receives the highest average rainfall, with a value of approximately 12.4mm. It is followed by Sikkim (SK) at about 11.1mm  and Goa (GA) at around 9.8mm . Meghalaya (ML) and Kerala (KL) also record high rainfall levels, each with an average of roughly 8.3mm.</a:t>
            </a:r>
            <a:endParaRPr lang="en-US" sz="1000" dirty="0"/>
          </a:p>
        </p:txBody>
      </p:sp>
      <p:sp>
        <p:nvSpPr>
          <p:cNvPr id="5" name="Text 2"/>
          <p:cNvSpPr/>
          <p:nvPr/>
        </p:nvSpPr>
        <p:spPr>
          <a:xfrm>
            <a:off x="3331518" y="3203749"/>
            <a:ext cx="2489597" cy="1147465"/>
          </a:xfrm>
          <a:prstGeom prst="rect">
            <a:avLst/>
          </a:prstGeom>
          <a:noFill/>
          <a:ln/>
        </p:spPr>
        <p:txBody>
          <a:bodyPr wrap="square" lIns="0" tIns="0" rIns="0" bIns="0" rtlCol="0" anchor="t">
            <a:normAutofit/>
          </a:bodyPr>
          <a:lstStyle/>
          <a:p>
            <a:pPr algn="l" indent="0" marL="0">
              <a:lnSpc>
                <a:spcPct val="124000"/>
              </a:lnSpc>
              <a:buNone/>
            </a:pPr>
            <a:r>
              <a:rPr lang="en-US" sz="1000" dirty="0">
                <a:solidFill>
                  <a:srgbClr val="D6E5EF"/>
                </a:solidFill>
                <a:latin typeface="Source Sans 3" pitchFamily="34" charset="0"/>
                <a:ea typeface="Source Sans 3" pitchFamily="34" charset="-122"/>
                <a:cs typeface="Source Sans 3" pitchFamily="34" charset="-120"/>
              </a:rPr>
              <a:t>Other states and regions in the top ten include Assam (AS), Tripura (TR), Andaman &amp; Nicobar Islands (AN), Puducherry (PY), and West Bengal (WB). Among these, West Bengal has the lowest average rainfall in the list, at approximately 5.9mm.</a:t>
            </a:r>
            <a:endParaRPr lang="en-US" sz="1000" dirty="0"/>
          </a:p>
        </p:txBody>
      </p:sp>
      <p:sp>
        <p:nvSpPr>
          <p:cNvPr id="6" name="Text 3"/>
          <p:cNvSpPr/>
          <p:nvPr/>
        </p:nvSpPr>
        <p:spPr>
          <a:xfrm>
            <a:off x="6139458" y="3203749"/>
            <a:ext cx="2489597" cy="1147465"/>
          </a:xfrm>
          <a:prstGeom prst="rect">
            <a:avLst/>
          </a:prstGeom>
          <a:noFill/>
          <a:ln/>
        </p:spPr>
        <p:txBody>
          <a:bodyPr wrap="square" lIns="0" tIns="0" rIns="0" bIns="0" rtlCol="0" anchor="t">
            <a:normAutofit/>
          </a:bodyPr>
          <a:lstStyle/>
          <a:p>
            <a:pPr algn="l" indent="0" marL="0">
              <a:lnSpc>
                <a:spcPct val="124000"/>
              </a:lnSpc>
              <a:buNone/>
            </a:pPr>
            <a:r>
              <a:rPr lang="en-US" sz="1000" dirty="0">
                <a:solidFill>
                  <a:srgbClr val="D6E5EF"/>
                </a:solidFill>
                <a:latin typeface="Source Sans 3" pitchFamily="34" charset="0"/>
                <a:ea typeface="Source Sans 3" pitchFamily="34" charset="-122"/>
                <a:cs typeface="Source Sans 3" pitchFamily="34" charset="-120"/>
              </a:rPr>
              <a:t>Overall, the graph indicates that northeastern states dominate the list of the rainiest regions in India, while coastal areas such as Goa and Kerala also experience significant rainfall due to the influence of the southwest monsoon and surrounding geographical features.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23577" y="429146"/>
            <a:ext cx="8096845" cy="811262"/>
          </a:xfrm>
          <a:prstGeom prst="rect">
            <a:avLst/>
          </a:prstGeom>
          <a:noFill/>
          <a:ln/>
        </p:spPr>
        <p:txBody>
          <a:bodyPr wrap="square" lIns="0" tIns="0" rIns="0" bIns="0" rtlCol="0" anchor="t">
            <a:normAutofit/>
          </a:bodyPr>
          <a:lstStyle/>
          <a:p>
            <a:pPr algn="l" indent="0" marL="0">
              <a:lnSpc>
                <a:spcPct val="104000"/>
              </a:lnSpc>
              <a:buNone/>
            </a:pPr>
            <a:r>
              <a:rPr lang="en-US" sz="2550" dirty="0">
                <a:solidFill>
                  <a:srgbClr val="F98AC7"/>
                </a:solidFill>
                <a:latin typeface="Lora" pitchFamily="34" charset="0"/>
                <a:ea typeface="Lora" pitchFamily="34" charset="-122"/>
                <a:cs typeface="Lora" pitchFamily="34" charset="-120"/>
              </a:rPr>
              <a:t>What is the relationship between temperature and rainfall?</a:t>
            </a:r>
            <a:endParaRPr lang="en-US" sz="2550" dirty="0"/>
          </a:p>
        </p:txBody>
      </p:sp>
      <p:pic>
        <p:nvPicPr>
          <p:cNvPr id="3" name="Image 0" descr="preencoded.png">    </p:cNvPr>
          <p:cNvPicPr>
            <a:picLocks noChangeAspect="1"/>
          </p:cNvPicPr>
          <p:nvPr/>
        </p:nvPicPr>
        <p:blipFill>
          <a:blip r:embed="rId1"/>
          <a:stretch>
            <a:fillRect/>
          </a:stretch>
        </p:blipFill>
        <p:spPr>
          <a:xfrm>
            <a:off x="3254797" y="1583531"/>
            <a:ext cx="2634407" cy="2034332"/>
          </a:xfrm>
          <a:prstGeom prst="rect">
            <a:avLst/>
          </a:prstGeom>
        </p:spPr>
      </p:pic>
      <p:sp>
        <p:nvSpPr>
          <p:cNvPr id="4" name="Text 1"/>
          <p:cNvSpPr/>
          <p:nvPr/>
        </p:nvSpPr>
        <p:spPr>
          <a:xfrm>
            <a:off x="523577" y="3964112"/>
            <a:ext cx="3880172" cy="635794"/>
          </a:xfrm>
          <a:prstGeom prst="rect">
            <a:avLst/>
          </a:prstGeom>
          <a:noFill/>
          <a:ln/>
        </p:spPr>
        <p:txBody>
          <a:bodyPr wrap="square" lIns="0" tIns="0" rIns="0" bIns="0" rtlCol="0" anchor="t">
            <a:normAutofit/>
          </a:bodyPr>
          <a:lstStyle/>
          <a:p>
            <a:pPr algn="l" indent="0" marL="0">
              <a:lnSpc>
                <a:spcPct val="128000"/>
              </a:lnSpc>
              <a:buNone/>
            </a:pPr>
            <a:r>
              <a:rPr lang="en-US" sz="1050" dirty="0">
                <a:solidFill>
                  <a:srgbClr val="D6E5EF"/>
                </a:solidFill>
                <a:latin typeface="Source Sans 3" pitchFamily="34" charset="0"/>
                <a:ea typeface="Source Sans 3" pitchFamily="34" charset="-122"/>
                <a:cs typeface="Source Sans 3" pitchFamily="34" charset="-120"/>
              </a:rPr>
              <a:t>The scatter plot indicates a </a:t>
            </a:r>
            <a:pPr algn="l" indent="0" marL="0">
              <a:lnSpc>
                <a:spcPct val="128000"/>
              </a:lnSpc>
              <a:buNone/>
            </a:pPr>
            <a:r>
              <a:rPr lang="en-US" sz="1050" b="1" dirty="0">
                <a:solidFill>
                  <a:srgbClr val="D6E5EF"/>
                </a:solidFill>
                <a:latin typeface="Source Sans 3 Bold" pitchFamily="34" charset="0"/>
                <a:ea typeface="Source Sans 3 Bold" pitchFamily="34" charset="-122"/>
                <a:cs typeface="Source Sans 3 Bold" pitchFamily="34" charset="-120"/>
              </a:rPr>
              <a:t>weak negative relationship</a:t>
            </a:r>
            <a:pPr algn="l" indent="0" marL="0">
              <a:lnSpc>
                <a:spcPct val="128000"/>
              </a:lnSpc>
              <a:buNone/>
            </a:pPr>
            <a:r>
              <a:rPr lang="en-US" sz="1050" dirty="0">
                <a:solidFill>
                  <a:srgbClr val="D6E5EF"/>
                </a:solidFill>
                <a:latin typeface="Source Sans 3" pitchFamily="34" charset="0"/>
                <a:ea typeface="Source Sans 3" pitchFamily="34" charset="-122"/>
                <a:cs typeface="Source Sans 3" pitchFamily="34" charset="-120"/>
              </a:rPr>
              <a:t> between temperature and rainfall. As temperature increases, rainfall tends to decrease slightly, although the points are widely scattered.</a:t>
            </a:r>
            <a:endParaRPr lang="en-US" sz="1050" dirty="0"/>
          </a:p>
        </p:txBody>
      </p:sp>
      <p:sp>
        <p:nvSpPr>
          <p:cNvPr id="5" name="Text 2"/>
          <p:cNvSpPr/>
          <p:nvPr/>
        </p:nvSpPr>
        <p:spPr>
          <a:xfrm>
            <a:off x="4745013" y="3964112"/>
            <a:ext cx="3880172" cy="635794"/>
          </a:xfrm>
          <a:prstGeom prst="rect">
            <a:avLst/>
          </a:prstGeom>
          <a:noFill/>
          <a:ln/>
        </p:spPr>
        <p:txBody>
          <a:bodyPr wrap="square" lIns="0" tIns="0" rIns="0" bIns="0" rtlCol="0" anchor="t">
            <a:normAutofit/>
          </a:bodyPr>
          <a:lstStyle/>
          <a:p>
            <a:pPr algn="l" indent="0" marL="0">
              <a:lnSpc>
                <a:spcPct val="128000"/>
              </a:lnSpc>
              <a:buNone/>
            </a:pPr>
            <a:r>
              <a:rPr lang="en-US" sz="1050" dirty="0">
                <a:solidFill>
                  <a:srgbClr val="D6E5EF"/>
                </a:solidFill>
                <a:latin typeface="Source Sans 3" pitchFamily="34" charset="0"/>
                <a:ea typeface="Source Sans 3" pitchFamily="34" charset="-122"/>
                <a:cs typeface="Source Sans 3" pitchFamily="34" charset="-120"/>
              </a:rPr>
              <a:t>This suggests that </a:t>
            </a:r>
            <a:pPr algn="l" indent="0" marL="0">
              <a:lnSpc>
                <a:spcPct val="128000"/>
              </a:lnSpc>
              <a:buNone/>
            </a:pPr>
            <a:r>
              <a:rPr lang="en-US" sz="1050" b="1" dirty="0">
                <a:solidFill>
                  <a:srgbClr val="D6E5EF"/>
                </a:solidFill>
                <a:latin typeface="Source Sans 3 Bold" pitchFamily="34" charset="0"/>
                <a:ea typeface="Source Sans 3 Bold" pitchFamily="34" charset="-122"/>
                <a:cs typeface="Source Sans 3 Bold" pitchFamily="34" charset="-120"/>
              </a:rPr>
              <a:t>temperature alone is not a strong predictor of rainfall</a:t>
            </a:r>
            <a:pPr algn="l" indent="0" marL="0">
              <a:lnSpc>
                <a:spcPct val="128000"/>
              </a:lnSpc>
              <a:buNone/>
            </a:pPr>
            <a:r>
              <a:rPr lang="en-US" sz="1050" dirty="0">
                <a:solidFill>
                  <a:srgbClr val="D6E5EF"/>
                </a:solidFill>
                <a:latin typeface="Source Sans 3" pitchFamily="34" charset="0"/>
                <a:ea typeface="Source Sans 3" pitchFamily="34" charset="-122"/>
                <a:cs typeface="Source Sans 3" pitchFamily="34" charset="-120"/>
              </a:rPr>
              <a:t>, and other factors such as humidity, atmospheric pressure, and monsoon patterns also significantly influence rainfall.</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23577" y="568598"/>
            <a:ext cx="8096845" cy="219968"/>
          </a:xfrm>
          <a:prstGeom prst="rect">
            <a:avLst/>
          </a:prstGeom>
          <a:noFill/>
          <a:ln/>
        </p:spPr>
        <p:txBody>
          <a:bodyPr wrap="none" lIns="0" tIns="0" rIns="0" bIns="0" rtlCol="0" anchor="t"/>
          <a:lstStyle/>
          <a:p>
            <a:pPr algn="l" indent="0" marL="0">
              <a:lnSpc>
                <a:spcPct val="104000"/>
              </a:lnSpc>
              <a:buNone/>
            </a:pPr>
            <a:r>
              <a:rPr lang="en-US" sz="1350" dirty="0">
                <a:solidFill>
                  <a:srgbClr val="F98AC7"/>
                </a:solidFill>
                <a:latin typeface="Lora" pitchFamily="34" charset="0"/>
                <a:ea typeface="Lora" pitchFamily="34" charset="-122"/>
                <a:cs typeface="Lora" pitchFamily="34" charset="-120"/>
              </a:rPr>
              <a:t>How does rainfall vary across different seasons in India?</a:t>
            </a:r>
            <a:endParaRPr lang="en-US" sz="1350" dirty="0"/>
          </a:p>
        </p:txBody>
      </p:sp>
      <p:pic>
        <p:nvPicPr>
          <p:cNvPr id="3" name="Image 0" descr="preencoded.png">    </p:cNvPr>
          <p:cNvPicPr>
            <a:picLocks noChangeAspect="1"/>
          </p:cNvPicPr>
          <p:nvPr/>
        </p:nvPicPr>
        <p:blipFill>
          <a:blip r:embed="rId1"/>
          <a:stretch>
            <a:fillRect/>
          </a:stretch>
        </p:blipFill>
        <p:spPr>
          <a:xfrm>
            <a:off x="2687017" y="1183779"/>
            <a:ext cx="3769891" cy="2169319"/>
          </a:xfrm>
          <a:prstGeom prst="rect">
            <a:avLst/>
          </a:prstGeom>
        </p:spPr>
      </p:pic>
      <p:sp>
        <p:nvSpPr>
          <p:cNvPr id="4" name="Text 1"/>
          <p:cNvSpPr/>
          <p:nvPr/>
        </p:nvSpPr>
        <p:spPr>
          <a:xfrm>
            <a:off x="523577" y="3617342"/>
            <a:ext cx="8096845" cy="95756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The </a:t>
            </a:r>
            <a:pPr algn="l" indent="0" marL="0">
              <a:lnSpc>
                <a:spcPct val="133000"/>
              </a:lnSpc>
              <a:buNone/>
            </a:pPr>
            <a:r>
              <a:rPr lang="en-US" sz="1150" b="1" dirty="0">
                <a:solidFill>
                  <a:srgbClr val="D6E5EF"/>
                </a:solidFill>
                <a:latin typeface="Source Sans 3 Bold" pitchFamily="34" charset="0"/>
                <a:ea typeface="Source Sans 3 Bold" pitchFamily="34" charset="-122"/>
                <a:cs typeface="Source Sans 3 Bold" pitchFamily="34" charset="-120"/>
              </a:rPr>
              <a:t>bar chart of average rainfall by season</a:t>
            </a:r>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 shows that rainfall varies significantly throughout the year. The </a:t>
            </a:r>
            <a:pPr algn="l" indent="0" marL="0">
              <a:lnSpc>
                <a:spcPct val="133000"/>
              </a:lnSpc>
              <a:buNone/>
            </a:pPr>
            <a:r>
              <a:rPr lang="en-US" sz="1150" b="1" dirty="0">
                <a:solidFill>
                  <a:srgbClr val="D6E5EF"/>
                </a:solidFill>
                <a:latin typeface="Source Sans 3 Bold" pitchFamily="34" charset="0"/>
                <a:ea typeface="Source Sans 3 Bold" pitchFamily="34" charset="-122"/>
                <a:cs typeface="Source Sans 3 Bold" pitchFamily="34" charset="-120"/>
              </a:rPr>
              <a:t>Monsoon season receives the highest average rainfall</a:t>
            </a:r>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 while the </a:t>
            </a:r>
            <a:pPr algn="l" indent="0" marL="0">
              <a:lnSpc>
                <a:spcPct val="133000"/>
              </a:lnSpc>
              <a:buNone/>
            </a:pPr>
            <a:r>
              <a:rPr lang="en-US" sz="1150" b="1" dirty="0">
                <a:solidFill>
                  <a:srgbClr val="D6E5EF"/>
                </a:solidFill>
                <a:latin typeface="Source Sans 3 Bold" pitchFamily="34" charset="0"/>
                <a:ea typeface="Source Sans 3 Bold" pitchFamily="34" charset="-122"/>
                <a:cs typeface="Source Sans 3 Bold" pitchFamily="34" charset="-120"/>
              </a:rPr>
              <a:t>Winter season records the lowest rainfall</a:t>
            </a:r>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 The </a:t>
            </a:r>
            <a:pPr algn="l" indent="0" marL="0">
              <a:lnSpc>
                <a:spcPct val="133000"/>
              </a:lnSpc>
              <a:buNone/>
            </a:pPr>
            <a:r>
              <a:rPr lang="en-US" sz="1150" b="1" dirty="0">
                <a:solidFill>
                  <a:srgbClr val="D6E5EF"/>
                </a:solidFill>
                <a:latin typeface="Source Sans 3 Bold" pitchFamily="34" charset="0"/>
                <a:ea typeface="Source Sans 3 Bold" pitchFamily="34" charset="-122"/>
                <a:cs typeface="Source Sans 3 Bold" pitchFamily="34" charset="-120"/>
              </a:rPr>
              <a:t>Summer</a:t>
            </a:r>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 and </a:t>
            </a:r>
            <a:pPr algn="l" indent="0" marL="0">
              <a:lnSpc>
                <a:spcPct val="133000"/>
              </a:lnSpc>
              <a:buNone/>
            </a:pPr>
            <a:r>
              <a:rPr lang="en-US" sz="1150" b="1" dirty="0">
                <a:solidFill>
                  <a:srgbClr val="D6E5EF"/>
                </a:solidFill>
                <a:latin typeface="Source Sans 3 Bold" pitchFamily="34" charset="0"/>
                <a:ea typeface="Source Sans 3 Bold" pitchFamily="34" charset="-122"/>
                <a:cs typeface="Source Sans 3 Bold" pitchFamily="34" charset="-120"/>
              </a:rPr>
              <a:t>Post-Monsoon</a:t>
            </a:r>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 seasons receive moderate rainfall, indicating that India's rainfall pattern is highly seasonal and primarily influenced by the southwest monsoon.</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23577" y="1593949"/>
            <a:ext cx="8096845" cy="219968"/>
          </a:xfrm>
          <a:prstGeom prst="rect">
            <a:avLst/>
          </a:prstGeom>
          <a:noFill/>
          <a:ln/>
        </p:spPr>
        <p:txBody>
          <a:bodyPr wrap="none" lIns="0" tIns="0" rIns="0" bIns="0" rtlCol="0" anchor="t"/>
          <a:lstStyle/>
          <a:p>
            <a:pPr algn="l" indent="0" marL="0">
              <a:lnSpc>
                <a:spcPct val="104000"/>
              </a:lnSpc>
              <a:buNone/>
            </a:pPr>
            <a:r>
              <a:rPr lang="en-US" sz="1350" dirty="0">
                <a:solidFill>
                  <a:srgbClr val="F98AC7"/>
                </a:solidFill>
                <a:latin typeface="Lora" pitchFamily="34" charset="0"/>
                <a:ea typeface="Lora" pitchFamily="34" charset="-122"/>
                <a:cs typeface="Lora" pitchFamily="34" charset="-120"/>
              </a:rPr>
              <a:t>How can Python and Data Science be used to analyze and predict rainfall patterns?</a:t>
            </a:r>
            <a:endParaRPr lang="en-US" sz="1350" dirty="0"/>
          </a:p>
        </p:txBody>
      </p:sp>
      <p:sp>
        <p:nvSpPr>
          <p:cNvPr id="3" name="Text 1"/>
          <p:cNvSpPr/>
          <p:nvPr/>
        </p:nvSpPr>
        <p:spPr>
          <a:xfrm>
            <a:off x="523577" y="2113136"/>
            <a:ext cx="8096845" cy="143634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Python and Data Science can be used to analyze and predict rainfall patterns by collecting, cleaning, and analyzing historical weather data such as rainfall, temperature, wind speed, air pressure, season, and location. Using Python libraries like Pandas, NumPy, Matplotlib, Seaborn, and Plotly, the data can be processed and visualized through charts and graphs to identify trends, seasonal variations, and relationships between weather factors. These insights help understand rainfall behavior and, when predictive models are included, historical data can be used to estimate future rainfall, supporting better decision-making in agriculture, water resource management, disaster preparedness, and climate planning.</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23577" y="418207"/>
            <a:ext cx="8096845" cy="307925"/>
          </a:xfrm>
          <a:prstGeom prst="rect">
            <a:avLst/>
          </a:prstGeom>
          <a:noFill/>
          <a:ln/>
        </p:spPr>
        <p:txBody>
          <a:bodyPr wrap="none" lIns="0" tIns="0" rIns="0" bIns="0" rtlCol="0" anchor="t"/>
          <a:lstStyle/>
          <a:p>
            <a:pPr algn="l" indent="0" marL="0">
              <a:lnSpc>
                <a:spcPct val="104000"/>
              </a:lnSpc>
              <a:buNone/>
            </a:pPr>
            <a:r>
              <a:rPr lang="en-US" sz="1900" dirty="0">
                <a:solidFill>
                  <a:srgbClr val="F98AC7"/>
                </a:solidFill>
                <a:latin typeface="Lora" pitchFamily="34" charset="0"/>
                <a:ea typeface="Lora" pitchFamily="34" charset="-122"/>
                <a:cs typeface="Lora" pitchFamily="34" charset="-120"/>
              </a:rPr>
              <a:t>Future Scope</a:t>
            </a:r>
            <a:endParaRPr lang="en-US" sz="1900" dirty="0"/>
          </a:p>
        </p:txBody>
      </p:sp>
      <p:sp>
        <p:nvSpPr>
          <p:cNvPr id="3" name="Shape 1"/>
          <p:cNvSpPr/>
          <p:nvPr/>
        </p:nvSpPr>
        <p:spPr>
          <a:xfrm>
            <a:off x="523577" y="955179"/>
            <a:ext cx="2622575" cy="1924050"/>
          </a:xfrm>
          <a:prstGeom prst="roundRect">
            <a:avLst>
              <a:gd name="adj" fmla="val 1021"/>
            </a:avLst>
          </a:prstGeom>
          <a:solidFill>
            <a:srgbClr val="444752"/>
          </a:solidFill>
          <a:ln/>
        </p:spPr>
      </p:sp>
      <p:sp>
        <p:nvSpPr>
          <p:cNvPr id="4" name="Shape 2"/>
          <p:cNvSpPr/>
          <p:nvPr/>
        </p:nvSpPr>
        <p:spPr>
          <a:xfrm>
            <a:off x="654472" y="1086073"/>
            <a:ext cx="392683" cy="392683"/>
          </a:xfrm>
          <a:prstGeom prst="ellipse">
            <a:avLst/>
          </a:prstGeom>
          <a:solidFill>
            <a:srgbClr val="6EB9FC"/>
          </a:solidFill>
          <a:ln/>
        </p:spPr>
      </p:sp>
      <p:sp>
        <p:nvSpPr>
          <p:cNvPr id="5" name="Text 3"/>
          <p:cNvSpPr/>
          <p:nvPr/>
        </p:nvSpPr>
        <p:spPr>
          <a:xfrm>
            <a:off x="762446" y="1171947"/>
            <a:ext cx="176659" cy="220861"/>
          </a:xfrm>
          <a:prstGeom prst="rect">
            <a:avLst/>
          </a:prstGeom>
          <a:noFill/>
          <a:ln/>
        </p:spPr>
        <p:txBody>
          <a:bodyPr wrap="none" lIns="0" tIns="0" rIns="0" bIns="0" rtlCol="0" anchor="ctr"/>
          <a:lstStyle/>
          <a:p>
            <a:pPr algn="ctr" indent="0" marL="0">
              <a:lnSpc>
                <a:spcPct val="100000"/>
              </a:lnSpc>
              <a:buNone/>
            </a:pPr>
            <a:r>
              <a:rPr lang="en-US" sz="1350" dirty="0">
                <a:solidFill>
                  <a:srgbClr val="000000"/>
                </a:solidFill>
                <a:latin typeface="Lora" pitchFamily="34" charset="0"/>
                <a:ea typeface="Lora" pitchFamily="34" charset="-122"/>
                <a:cs typeface="Lora" pitchFamily="34" charset="-120"/>
              </a:rPr>
              <a:t>1</a:t>
            </a:r>
            <a:endParaRPr lang="en-US" sz="1350" dirty="0"/>
          </a:p>
        </p:txBody>
      </p:sp>
      <p:sp>
        <p:nvSpPr>
          <p:cNvPr id="6" name="Text 4"/>
          <p:cNvSpPr/>
          <p:nvPr/>
        </p:nvSpPr>
        <p:spPr>
          <a:xfrm>
            <a:off x="654472" y="1593279"/>
            <a:ext cx="2360786" cy="785217"/>
          </a:xfrm>
          <a:prstGeom prst="rect">
            <a:avLst/>
          </a:prstGeom>
          <a:noFill/>
          <a:ln/>
        </p:spPr>
        <p:txBody>
          <a:bodyPr wrap="square" lIns="0" tIns="0" rIns="0" bIns="0" rtlCol="0" anchor="t">
            <a:normAutofit/>
          </a:bodyPr>
          <a:lstStyle/>
          <a:p>
            <a:pPr algn="l" indent="0" marL="0">
              <a:lnSpc>
                <a:spcPct val="125000"/>
              </a:lnSpc>
              <a:buNone/>
            </a:pPr>
            <a:r>
              <a:rPr lang="en-US" sz="1000" b="1" dirty="0">
                <a:solidFill>
                  <a:srgbClr val="D6E5EF"/>
                </a:solidFill>
                <a:latin typeface="Source Sans 3 Bold" pitchFamily="34" charset="0"/>
                <a:ea typeface="Source Sans 3 Bold" pitchFamily="34" charset="-122"/>
                <a:cs typeface="Source Sans 3 Bold" pitchFamily="34" charset="-120"/>
              </a:rPr>
              <a:t>Real-Time Weather Prediction</a:t>
            </a:r>
            <a:endParaRPr lang="en-US" sz="1000" dirty="0"/>
          </a:p>
          <a:p>
            <a:pPr algn="l" indent="0" marL="0">
              <a:lnSpc>
                <a:spcPct val="125000"/>
              </a:lnSpc>
              <a:buNone/>
            </a:pPr>
            <a:r>
              <a:rPr lang="en-US" sz="1000" dirty="0">
                <a:solidFill>
                  <a:srgbClr val="D6E5EF"/>
                </a:solidFill>
                <a:latin typeface="Source Sans 3" pitchFamily="34" charset="0"/>
                <a:ea typeface="Source Sans 3" pitchFamily="34" charset="-122"/>
                <a:cs typeface="Source Sans 3" pitchFamily="34" charset="-120"/>
              </a:rPr>
              <a:t>Integrate live weather data from online sources to provide real-time rainfall forecasts.</a:t>
            </a:r>
            <a:endParaRPr lang="en-US" sz="1000" dirty="0"/>
          </a:p>
        </p:txBody>
      </p:sp>
      <p:sp>
        <p:nvSpPr>
          <p:cNvPr id="7" name="Shape 5"/>
          <p:cNvSpPr/>
          <p:nvPr/>
        </p:nvSpPr>
        <p:spPr>
          <a:xfrm>
            <a:off x="3260675" y="955179"/>
            <a:ext cx="2622575" cy="1924050"/>
          </a:xfrm>
          <a:prstGeom prst="roundRect">
            <a:avLst>
              <a:gd name="adj" fmla="val 1021"/>
            </a:avLst>
          </a:prstGeom>
          <a:solidFill>
            <a:srgbClr val="444752"/>
          </a:solidFill>
          <a:ln/>
        </p:spPr>
      </p:sp>
      <p:sp>
        <p:nvSpPr>
          <p:cNvPr id="8" name="Shape 6"/>
          <p:cNvSpPr/>
          <p:nvPr/>
        </p:nvSpPr>
        <p:spPr>
          <a:xfrm>
            <a:off x="3391570" y="1086073"/>
            <a:ext cx="392683" cy="392683"/>
          </a:xfrm>
          <a:prstGeom prst="ellipse">
            <a:avLst/>
          </a:prstGeom>
          <a:solidFill>
            <a:srgbClr val="6EB9FC"/>
          </a:solidFill>
          <a:ln/>
        </p:spPr>
      </p:sp>
      <p:sp>
        <p:nvSpPr>
          <p:cNvPr id="9" name="Text 7"/>
          <p:cNvSpPr/>
          <p:nvPr/>
        </p:nvSpPr>
        <p:spPr>
          <a:xfrm>
            <a:off x="3499545" y="1171947"/>
            <a:ext cx="176659" cy="220861"/>
          </a:xfrm>
          <a:prstGeom prst="rect">
            <a:avLst/>
          </a:prstGeom>
          <a:noFill/>
          <a:ln/>
        </p:spPr>
        <p:txBody>
          <a:bodyPr wrap="none" lIns="0" tIns="0" rIns="0" bIns="0" rtlCol="0" anchor="ctr"/>
          <a:lstStyle/>
          <a:p>
            <a:pPr algn="ctr" indent="0" marL="0">
              <a:lnSpc>
                <a:spcPct val="100000"/>
              </a:lnSpc>
              <a:buNone/>
            </a:pPr>
            <a:r>
              <a:rPr lang="en-US" sz="1350" dirty="0">
                <a:solidFill>
                  <a:srgbClr val="000000"/>
                </a:solidFill>
                <a:latin typeface="Lora" pitchFamily="34" charset="0"/>
                <a:ea typeface="Lora" pitchFamily="34" charset="-122"/>
                <a:cs typeface="Lora" pitchFamily="34" charset="-120"/>
              </a:rPr>
              <a:t>2</a:t>
            </a:r>
            <a:endParaRPr lang="en-US" sz="1350" dirty="0"/>
          </a:p>
        </p:txBody>
      </p:sp>
      <p:sp>
        <p:nvSpPr>
          <p:cNvPr id="10" name="Text 8"/>
          <p:cNvSpPr/>
          <p:nvPr/>
        </p:nvSpPr>
        <p:spPr>
          <a:xfrm>
            <a:off x="3391570" y="1593279"/>
            <a:ext cx="2360786" cy="1155055"/>
          </a:xfrm>
          <a:prstGeom prst="rect">
            <a:avLst/>
          </a:prstGeom>
          <a:noFill/>
          <a:ln/>
        </p:spPr>
        <p:txBody>
          <a:bodyPr wrap="square" lIns="0" tIns="0" rIns="0" bIns="0" rtlCol="0" anchor="t">
            <a:normAutofit/>
          </a:bodyPr>
          <a:lstStyle/>
          <a:p>
            <a:pPr algn="l" indent="0" marL="0">
              <a:lnSpc>
                <a:spcPct val="104000"/>
              </a:lnSpc>
              <a:buNone/>
            </a:pPr>
            <a:r>
              <a:rPr lang="en-US" sz="1200" b="1" dirty="0">
                <a:solidFill>
                  <a:srgbClr val="D6E5EF"/>
                </a:solidFill>
                <a:latin typeface="Lora Bold" pitchFamily="34" charset="0"/>
                <a:ea typeface="Lora Bold" pitchFamily="34" charset="-122"/>
                <a:cs typeface="Lora Bold" pitchFamily="34" charset="-120"/>
              </a:rPr>
              <a:t>Advanced Machine Learning Models</a:t>
            </a:r>
            <a:endParaRPr lang="en-US" sz="1200" dirty="0"/>
          </a:p>
          <a:p>
            <a:pPr algn="l" indent="0" marL="0">
              <a:lnSpc>
                <a:spcPct val="104000"/>
              </a:lnSpc>
              <a:buNone/>
            </a:pPr>
            <a:r>
              <a:rPr lang="en-US" sz="1200" dirty="0">
                <a:solidFill>
                  <a:srgbClr val="D6E5EF"/>
                </a:solidFill>
                <a:latin typeface="Lora" pitchFamily="34" charset="0"/>
                <a:ea typeface="Lora" pitchFamily="34" charset="-122"/>
                <a:cs typeface="Lora" pitchFamily="34" charset="-120"/>
              </a:rPr>
              <a:t>Use advanced algorithms such as Random Forest, and Deep Learning models to improve prediction accuracy.</a:t>
            </a:r>
            <a:endParaRPr lang="en-US" sz="1200" dirty="0"/>
          </a:p>
        </p:txBody>
      </p:sp>
      <p:sp>
        <p:nvSpPr>
          <p:cNvPr id="11" name="Shape 9"/>
          <p:cNvSpPr/>
          <p:nvPr/>
        </p:nvSpPr>
        <p:spPr>
          <a:xfrm>
            <a:off x="5997773" y="955179"/>
            <a:ext cx="2622575" cy="1924050"/>
          </a:xfrm>
          <a:prstGeom prst="roundRect">
            <a:avLst>
              <a:gd name="adj" fmla="val 1021"/>
            </a:avLst>
          </a:prstGeom>
          <a:solidFill>
            <a:srgbClr val="444752"/>
          </a:solidFill>
          <a:ln/>
        </p:spPr>
      </p:sp>
      <p:sp>
        <p:nvSpPr>
          <p:cNvPr id="12" name="Shape 10"/>
          <p:cNvSpPr/>
          <p:nvPr/>
        </p:nvSpPr>
        <p:spPr>
          <a:xfrm>
            <a:off x="6128668" y="1086073"/>
            <a:ext cx="392683" cy="392683"/>
          </a:xfrm>
          <a:prstGeom prst="ellipse">
            <a:avLst/>
          </a:prstGeom>
          <a:solidFill>
            <a:srgbClr val="6EB9FC"/>
          </a:solidFill>
          <a:ln/>
        </p:spPr>
      </p:sp>
      <p:sp>
        <p:nvSpPr>
          <p:cNvPr id="13" name="Text 11"/>
          <p:cNvSpPr/>
          <p:nvPr/>
        </p:nvSpPr>
        <p:spPr>
          <a:xfrm>
            <a:off x="6236643" y="1171947"/>
            <a:ext cx="176659" cy="220861"/>
          </a:xfrm>
          <a:prstGeom prst="rect">
            <a:avLst/>
          </a:prstGeom>
          <a:noFill/>
          <a:ln/>
        </p:spPr>
        <p:txBody>
          <a:bodyPr wrap="none" lIns="0" tIns="0" rIns="0" bIns="0" rtlCol="0" anchor="ctr"/>
          <a:lstStyle/>
          <a:p>
            <a:pPr algn="ctr" indent="0" marL="0">
              <a:lnSpc>
                <a:spcPct val="100000"/>
              </a:lnSpc>
              <a:buNone/>
            </a:pPr>
            <a:r>
              <a:rPr lang="en-US" sz="1350" dirty="0">
                <a:solidFill>
                  <a:srgbClr val="000000"/>
                </a:solidFill>
                <a:latin typeface="Lora" pitchFamily="34" charset="0"/>
                <a:ea typeface="Lora" pitchFamily="34" charset="-122"/>
                <a:cs typeface="Lora" pitchFamily="34" charset="-120"/>
              </a:rPr>
              <a:t>3</a:t>
            </a:r>
            <a:endParaRPr lang="en-US" sz="1350" dirty="0"/>
          </a:p>
        </p:txBody>
      </p:sp>
      <p:sp>
        <p:nvSpPr>
          <p:cNvPr id="14" name="Text 12"/>
          <p:cNvSpPr/>
          <p:nvPr/>
        </p:nvSpPr>
        <p:spPr>
          <a:xfrm>
            <a:off x="6128668" y="1593279"/>
            <a:ext cx="2360786" cy="962546"/>
          </a:xfrm>
          <a:prstGeom prst="rect">
            <a:avLst/>
          </a:prstGeom>
          <a:noFill/>
          <a:ln/>
        </p:spPr>
        <p:txBody>
          <a:bodyPr wrap="square" lIns="0" tIns="0" rIns="0" bIns="0" rtlCol="0" anchor="t">
            <a:normAutofit/>
          </a:bodyPr>
          <a:lstStyle/>
          <a:p>
            <a:pPr algn="l" indent="0" marL="0">
              <a:lnSpc>
                <a:spcPct val="104000"/>
              </a:lnSpc>
              <a:buNone/>
            </a:pPr>
            <a:r>
              <a:rPr lang="en-US" sz="1200" b="1" dirty="0">
                <a:solidFill>
                  <a:srgbClr val="D6E5EF"/>
                </a:solidFill>
                <a:latin typeface="Lora Bold" pitchFamily="34" charset="0"/>
                <a:ea typeface="Lora Bold" pitchFamily="34" charset="-122"/>
                <a:cs typeface="Lora Bold" pitchFamily="34" charset="-120"/>
              </a:rPr>
              <a:t>Mobile and Web Applications</a:t>
            </a:r>
            <a:endParaRPr lang="en-US" sz="1200" dirty="0"/>
          </a:p>
          <a:p>
            <a:pPr algn="l" indent="0" marL="0">
              <a:lnSpc>
                <a:spcPct val="104000"/>
              </a:lnSpc>
              <a:buNone/>
            </a:pPr>
            <a:r>
              <a:rPr lang="en-US" sz="1200" dirty="0">
                <a:solidFill>
                  <a:srgbClr val="D6E5EF"/>
                </a:solidFill>
                <a:latin typeface="Lora" pitchFamily="34" charset="0"/>
                <a:ea typeface="Lora" pitchFamily="34" charset="-122"/>
                <a:cs typeface="Lora" pitchFamily="34" charset="-120"/>
              </a:rPr>
              <a:t>Develop a user-friendly application that allows users to view weather forecasts and rainfall predictions.</a:t>
            </a:r>
            <a:endParaRPr lang="en-US" sz="1200" dirty="0"/>
          </a:p>
        </p:txBody>
      </p:sp>
      <p:sp>
        <p:nvSpPr>
          <p:cNvPr id="15" name="Shape 13"/>
          <p:cNvSpPr/>
          <p:nvPr/>
        </p:nvSpPr>
        <p:spPr>
          <a:xfrm>
            <a:off x="523577" y="2993752"/>
            <a:ext cx="2622575" cy="1731541"/>
          </a:xfrm>
          <a:prstGeom prst="roundRect">
            <a:avLst>
              <a:gd name="adj" fmla="val 1134"/>
            </a:avLst>
          </a:prstGeom>
          <a:solidFill>
            <a:srgbClr val="444752"/>
          </a:solidFill>
          <a:ln/>
        </p:spPr>
      </p:sp>
      <p:sp>
        <p:nvSpPr>
          <p:cNvPr id="16" name="Shape 14"/>
          <p:cNvSpPr/>
          <p:nvPr/>
        </p:nvSpPr>
        <p:spPr>
          <a:xfrm>
            <a:off x="654472" y="3124646"/>
            <a:ext cx="392683" cy="392683"/>
          </a:xfrm>
          <a:prstGeom prst="ellipse">
            <a:avLst/>
          </a:prstGeom>
          <a:solidFill>
            <a:srgbClr val="6EB9FC"/>
          </a:solidFill>
          <a:ln/>
        </p:spPr>
      </p:sp>
      <p:sp>
        <p:nvSpPr>
          <p:cNvPr id="17" name="Text 15"/>
          <p:cNvSpPr/>
          <p:nvPr/>
        </p:nvSpPr>
        <p:spPr>
          <a:xfrm>
            <a:off x="762446" y="3210520"/>
            <a:ext cx="176659" cy="220861"/>
          </a:xfrm>
          <a:prstGeom prst="rect">
            <a:avLst/>
          </a:prstGeom>
          <a:noFill/>
          <a:ln/>
        </p:spPr>
        <p:txBody>
          <a:bodyPr wrap="none" lIns="0" tIns="0" rIns="0" bIns="0" rtlCol="0" anchor="ctr"/>
          <a:lstStyle/>
          <a:p>
            <a:pPr algn="ctr" indent="0" marL="0">
              <a:lnSpc>
                <a:spcPct val="100000"/>
              </a:lnSpc>
              <a:buNone/>
            </a:pPr>
            <a:r>
              <a:rPr lang="en-US" sz="1350" dirty="0">
                <a:solidFill>
                  <a:srgbClr val="000000"/>
                </a:solidFill>
                <a:latin typeface="Lora" pitchFamily="34" charset="0"/>
                <a:ea typeface="Lora" pitchFamily="34" charset="-122"/>
                <a:cs typeface="Lora" pitchFamily="34" charset="-120"/>
              </a:rPr>
              <a:t>4</a:t>
            </a:r>
            <a:endParaRPr lang="en-US" sz="1350" dirty="0"/>
          </a:p>
        </p:txBody>
      </p:sp>
      <p:sp>
        <p:nvSpPr>
          <p:cNvPr id="18" name="Text 16"/>
          <p:cNvSpPr/>
          <p:nvPr/>
        </p:nvSpPr>
        <p:spPr>
          <a:xfrm>
            <a:off x="654472" y="3631853"/>
            <a:ext cx="2360786" cy="962546"/>
          </a:xfrm>
          <a:prstGeom prst="rect">
            <a:avLst/>
          </a:prstGeom>
          <a:noFill/>
          <a:ln/>
        </p:spPr>
        <p:txBody>
          <a:bodyPr wrap="square" lIns="0" tIns="0" rIns="0" bIns="0" rtlCol="0" anchor="t">
            <a:normAutofit/>
          </a:bodyPr>
          <a:lstStyle/>
          <a:p>
            <a:pPr algn="l" indent="0" marL="0">
              <a:lnSpc>
                <a:spcPct val="104000"/>
              </a:lnSpc>
              <a:buNone/>
            </a:pPr>
            <a:r>
              <a:rPr lang="en-US" sz="1200" b="1" dirty="0">
                <a:solidFill>
                  <a:srgbClr val="D6E5EF"/>
                </a:solidFill>
                <a:latin typeface="Lora Bold" pitchFamily="34" charset="0"/>
                <a:ea typeface="Lora Bold" pitchFamily="34" charset="-122"/>
                <a:cs typeface="Lora Bold" pitchFamily="34" charset="-120"/>
              </a:rPr>
              <a:t>Integration with IoT Sensors</a:t>
            </a:r>
            <a:endParaRPr lang="en-US" sz="1200" dirty="0"/>
          </a:p>
          <a:p>
            <a:pPr algn="l" indent="0" marL="0">
              <a:lnSpc>
                <a:spcPct val="104000"/>
              </a:lnSpc>
              <a:buNone/>
            </a:pPr>
            <a:r>
              <a:rPr lang="en-US" sz="1200" dirty="0">
                <a:solidFill>
                  <a:srgbClr val="D6E5EF"/>
                </a:solidFill>
                <a:latin typeface="Lora" pitchFamily="34" charset="0"/>
                <a:ea typeface="Lora" pitchFamily="34" charset="-122"/>
                <a:cs typeface="Lora" pitchFamily="34" charset="-120"/>
              </a:rPr>
              <a:t>Collect live temperature, humidity, and rainfall data using IoT-based weather monitoring systems.</a:t>
            </a:r>
            <a:endParaRPr lang="en-US" sz="1200" dirty="0"/>
          </a:p>
        </p:txBody>
      </p:sp>
      <p:sp>
        <p:nvSpPr>
          <p:cNvPr id="19" name="Shape 17"/>
          <p:cNvSpPr/>
          <p:nvPr/>
        </p:nvSpPr>
        <p:spPr>
          <a:xfrm>
            <a:off x="3260675" y="2993752"/>
            <a:ext cx="2622575" cy="1731541"/>
          </a:xfrm>
          <a:prstGeom prst="roundRect">
            <a:avLst>
              <a:gd name="adj" fmla="val 1134"/>
            </a:avLst>
          </a:prstGeom>
          <a:solidFill>
            <a:srgbClr val="444752"/>
          </a:solidFill>
          <a:ln/>
        </p:spPr>
      </p:sp>
      <p:sp>
        <p:nvSpPr>
          <p:cNvPr id="20" name="Shape 18"/>
          <p:cNvSpPr/>
          <p:nvPr/>
        </p:nvSpPr>
        <p:spPr>
          <a:xfrm>
            <a:off x="3391570" y="3124646"/>
            <a:ext cx="392683" cy="392683"/>
          </a:xfrm>
          <a:prstGeom prst="ellipse">
            <a:avLst/>
          </a:prstGeom>
          <a:solidFill>
            <a:srgbClr val="6EB9FC"/>
          </a:solidFill>
          <a:ln/>
        </p:spPr>
      </p:sp>
      <p:sp>
        <p:nvSpPr>
          <p:cNvPr id="21" name="Text 19"/>
          <p:cNvSpPr/>
          <p:nvPr/>
        </p:nvSpPr>
        <p:spPr>
          <a:xfrm>
            <a:off x="3499545" y="3210520"/>
            <a:ext cx="176659" cy="220861"/>
          </a:xfrm>
          <a:prstGeom prst="rect">
            <a:avLst/>
          </a:prstGeom>
          <a:noFill/>
          <a:ln/>
        </p:spPr>
        <p:txBody>
          <a:bodyPr wrap="none" lIns="0" tIns="0" rIns="0" bIns="0" rtlCol="0" anchor="ctr"/>
          <a:lstStyle/>
          <a:p>
            <a:pPr algn="ctr" indent="0" marL="0">
              <a:lnSpc>
                <a:spcPct val="100000"/>
              </a:lnSpc>
              <a:buNone/>
            </a:pPr>
            <a:r>
              <a:rPr lang="en-US" sz="1350" dirty="0">
                <a:solidFill>
                  <a:srgbClr val="000000"/>
                </a:solidFill>
                <a:latin typeface="Lora" pitchFamily="34" charset="0"/>
                <a:ea typeface="Lora" pitchFamily="34" charset="-122"/>
                <a:cs typeface="Lora" pitchFamily="34" charset="-120"/>
              </a:rPr>
              <a:t>5</a:t>
            </a:r>
            <a:endParaRPr lang="en-US" sz="1350" dirty="0"/>
          </a:p>
        </p:txBody>
      </p:sp>
      <p:sp>
        <p:nvSpPr>
          <p:cNvPr id="22" name="Text 20"/>
          <p:cNvSpPr/>
          <p:nvPr/>
        </p:nvSpPr>
        <p:spPr>
          <a:xfrm>
            <a:off x="3391570" y="3631853"/>
            <a:ext cx="2360786" cy="962546"/>
          </a:xfrm>
          <a:prstGeom prst="rect">
            <a:avLst/>
          </a:prstGeom>
          <a:noFill/>
          <a:ln/>
        </p:spPr>
        <p:txBody>
          <a:bodyPr wrap="square" lIns="0" tIns="0" rIns="0" bIns="0" rtlCol="0" anchor="t">
            <a:normAutofit/>
          </a:bodyPr>
          <a:lstStyle/>
          <a:p>
            <a:pPr algn="l" indent="0" marL="0">
              <a:lnSpc>
                <a:spcPct val="104000"/>
              </a:lnSpc>
              <a:buNone/>
            </a:pPr>
            <a:r>
              <a:rPr lang="en-US" sz="1200" b="1" dirty="0">
                <a:solidFill>
                  <a:srgbClr val="D6E5EF"/>
                </a:solidFill>
                <a:latin typeface="Lora Bold" pitchFamily="34" charset="0"/>
                <a:ea typeface="Lora Bold" pitchFamily="34" charset="-122"/>
                <a:cs typeface="Lora Bold" pitchFamily="34" charset="-120"/>
              </a:rPr>
              <a:t>Disaster Management Support</a:t>
            </a:r>
            <a:endParaRPr lang="en-US" sz="1200" dirty="0"/>
          </a:p>
          <a:p>
            <a:pPr algn="l" indent="0" marL="0">
              <a:lnSpc>
                <a:spcPct val="104000"/>
              </a:lnSpc>
              <a:buNone/>
            </a:pPr>
            <a:r>
              <a:rPr lang="en-US" sz="1200" dirty="0">
                <a:solidFill>
                  <a:srgbClr val="D6E5EF"/>
                </a:solidFill>
                <a:latin typeface="Lora" pitchFamily="34" charset="0"/>
                <a:ea typeface="Lora" pitchFamily="34" charset="-122"/>
                <a:cs typeface="Lora" pitchFamily="34" charset="-120"/>
              </a:rPr>
              <a:t>Use rainfall predictions to provide early warnings for floods, heavy rainfall, and other weather-related disasters.</a:t>
            </a:r>
            <a:endParaRPr lang="en-US" sz="1200" dirty="0"/>
          </a:p>
        </p:txBody>
      </p:sp>
      <p:sp>
        <p:nvSpPr>
          <p:cNvPr id="23" name="Shape 21"/>
          <p:cNvSpPr/>
          <p:nvPr/>
        </p:nvSpPr>
        <p:spPr>
          <a:xfrm>
            <a:off x="5997773" y="2993752"/>
            <a:ext cx="2622575" cy="1731541"/>
          </a:xfrm>
          <a:prstGeom prst="roundRect">
            <a:avLst>
              <a:gd name="adj" fmla="val 1134"/>
            </a:avLst>
          </a:prstGeom>
          <a:solidFill>
            <a:srgbClr val="444752"/>
          </a:solidFill>
          <a:ln/>
        </p:spPr>
      </p:sp>
      <p:sp>
        <p:nvSpPr>
          <p:cNvPr id="24" name="Shape 22"/>
          <p:cNvSpPr/>
          <p:nvPr/>
        </p:nvSpPr>
        <p:spPr>
          <a:xfrm>
            <a:off x="6128668" y="3124646"/>
            <a:ext cx="392683" cy="392683"/>
          </a:xfrm>
          <a:prstGeom prst="ellipse">
            <a:avLst/>
          </a:prstGeom>
          <a:solidFill>
            <a:srgbClr val="6EB9FC"/>
          </a:solidFill>
          <a:ln/>
        </p:spPr>
      </p:sp>
      <p:sp>
        <p:nvSpPr>
          <p:cNvPr id="25" name="Text 23"/>
          <p:cNvSpPr/>
          <p:nvPr/>
        </p:nvSpPr>
        <p:spPr>
          <a:xfrm>
            <a:off x="6236643" y="3210520"/>
            <a:ext cx="176659" cy="220861"/>
          </a:xfrm>
          <a:prstGeom prst="rect">
            <a:avLst/>
          </a:prstGeom>
          <a:noFill/>
          <a:ln/>
        </p:spPr>
        <p:txBody>
          <a:bodyPr wrap="none" lIns="0" tIns="0" rIns="0" bIns="0" rtlCol="0" anchor="ctr"/>
          <a:lstStyle/>
          <a:p>
            <a:pPr algn="ctr" indent="0" marL="0">
              <a:lnSpc>
                <a:spcPct val="100000"/>
              </a:lnSpc>
              <a:buNone/>
            </a:pPr>
            <a:r>
              <a:rPr lang="en-US" sz="1350" dirty="0">
                <a:solidFill>
                  <a:srgbClr val="000000"/>
                </a:solidFill>
                <a:latin typeface="Lora" pitchFamily="34" charset="0"/>
                <a:ea typeface="Lora" pitchFamily="34" charset="-122"/>
                <a:cs typeface="Lora" pitchFamily="34" charset="-120"/>
              </a:rPr>
              <a:t>6</a:t>
            </a:r>
            <a:endParaRPr lang="en-US" sz="1350" dirty="0"/>
          </a:p>
        </p:txBody>
      </p:sp>
      <p:sp>
        <p:nvSpPr>
          <p:cNvPr id="26" name="Text 24"/>
          <p:cNvSpPr/>
          <p:nvPr/>
        </p:nvSpPr>
        <p:spPr>
          <a:xfrm>
            <a:off x="6128668" y="3631853"/>
            <a:ext cx="2360786" cy="962546"/>
          </a:xfrm>
          <a:prstGeom prst="rect">
            <a:avLst/>
          </a:prstGeom>
          <a:noFill/>
          <a:ln/>
        </p:spPr>
        <p:txBody>
          <a:bodyPr wrap="square" lIns="0" tIns="0" rIns="0" bIns="0" rtlCol="0" anchor="t">
            <a:normAutofit/>
          </a:bodyPr>
          <a:lstStyle/>
          <a:p>
            <a:pPr algn="l" indent="0" marL="0">
              <a:lnSpc>
                <a:spcPct val="104000"/>
              </a:lnSpc>
              <a:buNone/>
            </a:pPr>
            <a:r>
              <a:rPr lang="en-US" sz="1200" b="1" dirty="0">
                <a:solidFill>
                  <a:srgbClr val="D6E5EF"/>
                </a:solidFill>
                <a:latin typeface="Lora Bold" pitchFamily="34" charset="0"/>
                <a:ea typeface="Lora Bold" pitchFamily="34" charset="-122"/>
                <a:cs typeface="Lora Bold" pitchFamily="34" charset="-120"/>
              </a:rPr>
              <a:t>Agricultural Decision Support</a:t>
            </a:r>
            <a:endParaRPr lang="en-US" sz="1200" dirty="0"/>
          </a:p>
          <a:p>
            <a:pPr algn="l" indent="0" marL="0">
              <a:lnSpc>
                <a:spcPct val="104000"/>
              </a:lnSpc>
              <a:buNone/>
            </a:pPr>
            <a:r>
              <a:rPr lang="en-US" sz="1200" dirty="0">
                <a:solidFill>
                  <a:srgbClr val="D6E5EF"/>
                </a:solidFill>
                <a:latin typeface="Lora" pitchFamily="34" charset="0"/>
                <a:ea typeface="Lora" pitchFamily="34" charset="-122"/>
                <a:cs typeface="Lora" pitchFamily="34" charset="-120"/>
              </a:rPr>
              <a:t>Help farmers plan irrigation, crop selection, and harvesting activities based on weather forecasts.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523577" y="645468"/>
            <a:ext cx="5125045" cy="299145"/>
          </a:xfrm>
          <a:prstGeom prst="rect">
            <a:avLst/>
          </a:prstGeom>
          <a:noFill/>
          <a:ln/>
        </p:spPr>
        <p:txBody>
          <a:bodyPr wrap="none" lIns="0" tIns="0" rIns="0" bIns="0" rtlCol="0" anchor="t"/>
          <a:lstStyle/>
          <a:p>
            <a:pPr algn="l" indent="0" marL="0">
              <a:lnSpc>
                <a:spcPct val="133000"/>
              </a:lnSpc>
              <a:buNone/>
            </a:pPr>
            <a:r>
              <a:rPr lang="en-US" sz="1450" b="1" dirty="0">
                <a:solidFill>
                  <a:srgbClr val="D6E5EF"/>
                </a:solidFill>
                <a:latin typeface="Source Sans 3 Bold" pitchFamily="34" charset="0"/>
                <a:ea typeface="Source Sans 3 Bold" pitchFamily="34" charset="-122"/>
                <a:cs typeface="Source Sans 3 Bold" pitchFamily="34" charset="-120"/>
              </a:rPr>
              <a:t>Conclusion</a:t>
            </a:r>
            <a:endParaRPr lang="en-US" sz="1450" dirty="0"/>
          </a:p>
        </p:txBody>
      </p:sp>
      <p:sp>
        <p:nvSpPr>
          <p:cNvPr id="4" name="Text 1"/>
          <p:cNvSpPr/>
          <p:nvPr/>
        </p:nvSpPr>
        <p:spPr>
          <a:xfrm>
            <a:off x="523577" y="1112862"/>
            <a:ext cx="4667845" cy="3519711"/>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This project demonstrated how </a:t>
            </a:r>
            <a:pPr algn="l" indent="0" marL="0">
              <a:lnSpc>
                <a:spcPct val="133000"/>
              </a:lnSpc>
              <a:buNone/>
            </a:pPr>
            <a:r>
              <a:rPr lang="en-US" sz="1150" b="1" dirty="0">
                <a:solidFill>
                  <a:srgbClr val="D6E5EF"/>
                </a:solidFill>
                <a:latin typeface="Source Sans 3 Bold" pitchFamily="34" charset="0"/>
                <a:ea typeface="Source Sans 3 Bold" pitchFamily="34" charset="-122"/>
                <a:cs typeface="Source Sans 3 Bold" pitchFamily="34" charset="-120"/>
              </a:rPr>
              <a:t>Python and Data Science</a:t>
            </a:r>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 can be effectively used to analyze historical rainfall data and identify important weather patterns across India. Using libraries such as </a:t>
            </a:r>
            <a:pPr algn="l" indent="0" marL="0">
              <a:lnSpc>
                <a:spcPct val="133000"/>
              </a:lnSpc>
              <a:buNone/>
            </a:pPr>
            <a:r>
              <a:rPr lang="en-US" sz="1150" b="1" dirty="0">
                <a:solidFill>
                  <a:srgbClr val="D6E5EF"/>
                </a:solidFill>
                <a:latin typeface="Source Sans 3 Bold" pitchFamily="34" charset="0"/>
                <a:ea typeface="Source Sans 3 Bold" pitchFamily="34" charset="-122"/>
                <a:cs typeface="Source Sans 3 Bold" pitchFamily="34" charset="-120"/>
              </a:rPr>
              <a:t>Pandas, NumPy, Matplotlib, Seaborn, </a:t>
            </a:r>
            <a:pPr algn="l" indent="0" marL="0">
              <a:lnSpc>
                <a:spcPct val="133000"/>
              </a:lnSpc>
              <a:spcAft>
                <a:spcPts val="1300"/>
              </a:spcAft>
              <a:buNone/>
            </a:pPr>
            <a:r>
              <a:rPr lang="en-US" sz="1150" dirty="0">
                <a:solidFill>
                  <a:srgbClr val="D6E5EF"/>
                </a:solidFill>
                <a:latin typeface="Source Sans 3" pitchFamily="34" charset="0"/>
                <a:ea typeface="Source Sans 3" pitchFamily="34" charset="-122"/>
                <a:cs typeface="Source Sans 3" pitchFamily="34" charset="-120"/>
              </a:rPr>
              <a:t> the data was cleaned, visualized, and analyzed to understand rainfall distribution across states, seasons, and weather conditions.</a:t>
            </a:r>
            <a:endParaRPr lang="en-US" sz="1150" dirty="0"/>
          </a:p>
          <a:p>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The analysis showed that rainfall varies significantly by region and season, with the </a:t>
            </a:r>
            <a:pPr algn="l" indent="0" marL="0">
              <a:lnSpc>
                <a:spcPct val="133000"/>
              </a:lnSpc>
              <a:buNone/>
            </a:pPr>
            <a:r>
              <a:rPr lang="en-US" sz="1150" b="1" dirty="0">
                <a:solidFill>
                  <a:srgbClr val="D6E5EF"/>
                </a:solidFill>
                <a:latin typeface="Source Sans 3 Bold" pitchFamily="34" charset="0"/>
                <a:ea typeface="Source Sans 3 Bold" pitchFamily="34" charset="-122"/>
                <a:cs typeface="Source Sans 3 Bold" pitchFamily="34" charset="-120"/>
              </a:rPr>
              <a:t>monsoon season contributing the highest rainfall</a:t>
            </a:r>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 It also indicated that </a:t>
            </a:r>
            <a:pPr algn="l" indent="0" marL="0">
              <a:lnSpc>
                <a:spcPct val="133000"/>
              </a:lnSpc>
              <a:buNone/>
            </a:pPr>
            <a:r>
              <a:rPr lang="en-US" sz="1150" b="1" dirty="0">
                <a:solidFill>
                  <a:srgbClr val="D6E5EF"/>
                </a:solidFill>
                <a:latin typeface="Source Sans 3 Bold" pitchFamily="34" charset="0"/>
                <a:ea typeface="Source Sans 3 Bold" pitchFamily="34" charset="-122"/>
                <a:cs typeface="Source Sans 3 Bold" pitchFamily="34" charset="-120"/>
              </a:rPr>
              <a:t>temperature alone is not a strong predictor of rainfall</a:t>
            </a:r>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 emphasizing the importance of considering multiple weather parameters for accurate prediction. Overall, this project highlights the value of data-driven techniques in supporting </a:t>
            </a:r>
            <a:pPr algn="l" indent="0" marL="0">
              <a:lnSpc>
                <a:spcPct val="133000"/>
              </a:lnSpc>
              <a:buNone/>
            </a:pPr>
            <a:r>
              <a:rPr lang="en-US" sz="1150" b="1" dirty="0">
                <a:solidFill>
                  <a:srgbClr val="D6E5EF"/>
                </a:solidFill>
                <a:latin typeface="Source Sans 3 Bold" pitchFamily="34" charset="0"/>
                <a:ea typeface="Source Sans 3 Bold" pitchFamily="34" charset="-122"/>
                <a:cs typeface="Source Sans 3 Bold" pitchFamily="34" charset="-120"/>
              </a:rPr>
              <a:t>agriculture, water resource management, disaster preparedness, and weather forecasting</a:t>
            </a:r>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 making rainfall prediction more reliable and informed.</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23577" y="1962745"/>
            <a:ext cx="8096845" cy="440010"/>
          </a:xfrm>
          <a:prstGeom prst="rect">
            <a:avLst/>
          </a:prstGeom>
          <a:noFill/>
          <a:ln/>
        </p:spPr>
        <p:txBody>
          <a:bodyPr wrap="none" lIns="0" tIns="0" rIns="0" bIns="0" rtlCol="0" anchor="t"/>
          <a:lstStyle/>
          <a:p>
            <a:pPr algn="l" indent="0" marL="0">
              <a:lnSpc>
                <a:spcPct val="104000"/>
              </a:lnSpc>
              <a:buNone/>
            </a:pPr>
            <a:r>
              <a:rPr lang="en-US" sz="2750" dirty="0">
                <a:solidFill>
                  <a:srgbClr val="F98AC7"/>
                </a:solidFill>
                <a:latin typeface="Lora" pitchFamily="34" charset="0"/>
                <a:ea typeface="Lora" pitchFamily="34" charset="-122"/>
                <a:cs typeface="Lora" pitchFamily="34" charset="-120"/>
              </a:rPr>
              <a:t>Thank You</a:t>
            </a:r>
            <a:endParaRPr lang="en-US" sz="2750" dirty="0"/>
          </a:p>
        </p:txBody>
      </p:sp>
      <p:sp>
        <p:nvSpPr>
          <p:cNvPr id="3" name="Text 1"/>
          <p:cNvSpPr/>
          <p:nvPr/>
        </p:nvSpPr>
        <p:spPr>
          <a:xfrm>
            <a:off x="523577" y="2701975"/>
            <a:ext cx="8096845" cy="47878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"Thank you for listening to our presentation. We hope our project helped demonstrate how Python and Data Science can be used to analyze weather data and understand rainfall patterns. We are happy to answer any questions."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D8AFF8"/>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2026-07-17T03:26:46Z</dcterms:created>
  <dcterms:modified xsi:type="dcterms:W3CDTF">2026-07-17T03:26:46Z</dcterms:modified>
</cp:coreProperties>
</file>